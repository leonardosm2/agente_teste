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029200"/>
            <a:ext cx="2377440" cy="2377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AVULSA · ANTECIPAÇÃO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Dinâmico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Recalibrado por Agentes de 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A/B contínuos, análise experimental automatizada e recomendação de preços com supervisão — do diagnóstico ao roadmap de evolução.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989320"/>
            <a:ext cx="128016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 ·  Squad Precificação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preço chega até o cliente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3876" y="1975104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/home/claude/deck/icons/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728" y="2074956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2331720"/>
            <a:ext cx="64008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08960" y="18745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91356" y="1975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eng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08" y="207495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23774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 flipV="1">
            <a:off x="5257800" y="1554480"/>
            <a:ext cx="731520" cy="6400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257800" y="2468880"/>
            <a:ext cx="731520" cy="640080"/>
          </a:xfrm>
          <a:prstGeom prst="line">
            <a:avLst/>
          </a:prstGeom>
          <a:noFill/>
          <a:ln w="2857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035040" y="1097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0216" y="13167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deck/icons/contrac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68" y="1416588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097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Contrato / Oferta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2697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2994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91072" y="293065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eck/icons/bol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679" y="3035259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0" y="26974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Dinâmico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1481328" y="2788920"/>
            <a:ext cx="9144" cy="96012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48640" y="3749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303020" y="395020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deck/icons/op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118" y="4045306"/>
            <a:ext cx="175565" cy="1755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" y="42976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006840" y="10972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141B4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2811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PREÇO DINÂMICO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28116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conforme dados do cliente e da operação (risco, histórico, contexto da transação).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9281160" y="2834640"/>
            <a:ext cx="22402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28116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928116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Funding</a:t>
            </a:r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captação repassado à precificação da antecipação.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dinâmico está travado no tempo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parametrização do spread depende de apuração manual periódica — sem testes controlados e sem visibilidade em tempo real do impacto de cada mudança.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1036" y="24460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118" y="26481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estático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11480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spread fica parado entre janelas de revisão, sem reagir a mudanças de mercado ou de risco.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214884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29100" y="24460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man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82" y="264810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75304" y="35204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manual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02736" y="411480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levantar, calcular e parametrizar cada ajuste — processo lento e dependente de pessoas.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44768" y="214884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27164" y="24460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icons/not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246" y="264810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73368" y="35204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teste controlado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411480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preço vão direto para a base inteira, sem comparação entre abordagens (A/B).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42832" y="214884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25228" y="24460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dec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0" y="2648102"/>
            <a:ext cx="373075" cy="3730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25712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71432" y="352044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leitura em tempo real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198864" y="411480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quando há apuração, a análise só é possível em fechamento de mês — não em fluxo contínuo.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5989320"/>
            <a:ext cx="10936224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" y="5989320"/>
            <a:ext cx="10387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oportunidades de receita e de conversão ficam na mesa enquanto o preço não acompanha a operação em tempo real.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retroalimenta o preço com dados da operação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6712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/home/claude/deck/icons/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2262226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94560" y="2514600"/>
            <a:ext cx="59436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20574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4740" y="21671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eng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838" y="2262226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V="1">
            <a:off x="4800600" y="1737360"/>
            <a:ext cx="640080" cy="6400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800600" y="2651760"/>
            <a:ext cx="640080" cy="640080"/>
          </a:xfrm>
          <a:prstGeom prst="line">
            <a:avLst/>
          </a:prstGeom>
          <a:noFill/>
          <a:ln w="2857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0" y="12801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715000" y="12801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Contrato / Oferta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0" y="28803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2994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715000" y="28803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Dinâmico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325880" y="2971800"/>
            <a:ext cx="9144" cy="91440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57200" y="38862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152144" y="405993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2" descr="/home/claude/deck/icons/op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87" y="4150279"/>
            <a:ext cx="166787" cy="166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" y="4389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063240" y="397764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141B4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328416" y="4174236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6" name="Image 3" descr="/home/claude/deck/icons/datam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268" y="4274088"/>
            <a:ext cx="184343" cy="18434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611880" y="3977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61188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operação e do motor, disponíveis por domínio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325880" y="4617720"/>
            <a:ext cx="9144" cy="18288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none"/>
          </a:ln>
        </p:spPr>
      </p:sp>
      <p:sp>
        <p:nvSpPr>
          <p:cNvPr id="30" name="Shape 24"/>
          <p:cNvSpPr/>
          <p:nvPr/>
        </p:nvSpPr>
        <p:spPr>
          <a:xfrm>
            <a:off x="1325880" y="4800600"/>
            <a:ext cx="169164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3840480" y="2971800"/>
            <a:ext cx="9144" cy="100584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6720840" y="38862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C9761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967728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/home/claude/deck/icons/robo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90" y="4242450"/>
            <a:ext cx="201900" cy="2019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69480" y="4014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269480" y="4389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e recomenda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309360" y="4361688"/>
            <a:ext cx="365760" cy="9144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006840" y="4069080"/>
            <a:ext cx="182880" cy="9144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none"/>
          </a:ln>
        </p:spPr>
      </p:sp>
      <p:sp>
        <p:nvSpPr>
          <p:cNvPr id="39" name="Shape 32"/>
          <p:cNvSpPr/>
          <p:nvPr/>
        </p:nvSpPr>
        <p:spPr>
          <a:xfrm flipV="1">
            <a:off x="9189720" y="3268980"/>
            <a:ext cx="9144" cy="80010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none"/>
          </a:ln>
        </p:spPr>
      </p:sp>
      <p:sp>
        <p:nvSpPr>
          <p:cNvPr id="40" name="Shape 33"/>
          <p:cNvSpPr/>
          <p:nvPr/>
        </p:nvSpPr>
        <p:spPr>
          <a:xfrm flipH="1">
            <a:off x="7818120" y="3268980"/>
            <a:ext cx="1371600" cy="9144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41" name="Text 34"/>
          <p:cNvSpPr/>
          <p:nvPr/>
        </p:nvSpPr>
        <p:spPr>
          <a:xfrm>
            <a:off x="7818120" y="2971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teste A/B/C ao time de agentes que o opera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A/B/C + Controle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062990" cy="777240"/>
          </a:xfrm>
          <a:prstGeom prst="roundRect">
            <a:avLst>
              <a:gd name="adj" fmla="val 8235"/>
            </a:avLst>
          </a:prstGeom>
          <a:solidFill>
            <a:srgbClr val="8A93A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48840"/>
            <a:ext cx="106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7802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atual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34415" y="2834640"/>
            <a:ext cx="2005965" cy="457200"/>
          </a:xfrm>
          <a:prstGeom prst="line">
            <a:avLst/>
          </a:prstGeom>
          <a:noFill/>
          <a:ln w="15875">
            <a:solidFill>
              <a:srgbClr val="D7DEE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40230" y="2057400"/>
            <a:ext cx="106299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40230" y="2148840"/>
            <a:ext cx="106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40230" y="247802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71725" y="2834640"/>
            <a:ext cx="668655" cy="457200"/>
          </a:xfrm>
          <a:prstGeom prst="line">
            <a:avLst/>
          </a:prstGeom>
          <a:noFill/>
          <a:ln w="15875">
            <a:solidFill>
              <a:srgbClr val="D7DEE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77540" y="2057400"/>
            <a:ext cx="106299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7540" y="2148840"/>
            <a:ext cx="106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77540" y="247802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 flipH="1">
            <a:off x="3040380" y="2834640"/>
            <a:ext cx="668655" cy="457200"/>
          </a:xfrm>
          <a:prstGeom prst="line">
            <a:avLst/>
          </a:prstGeom>
          <a:noFill/>
          <a:ln w="15875">
            <a:solidFill>
              <a:srgbClr val="D7DE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14850" y="2057400"/>
            <a:ext cx="1062990" cy="777240"/>
          </a:xfrm>
          <a:prstGeom prst="roundRect">
            <a:avLst>
              <a:gd name="adj" fmla="val 8235"/>
            </a:avLst>
          </a:prstGeom>
          <a:solidFill>
            <a:srgbClr val="F2994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14850" y="2148840"/>
            <a:ext cx="106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14850" y="2478024"/>
            <a:ext cx="1062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H="1">
            <a:off x="3040380" y="2834640"/>
            <a:ext cx="2005965" cy="457200"/>
          </a:xfrm>
          <a:prstGeom prst="line">
            <a:avLst/>
          </a:prstGeom>
          <a:noFill/>
          <a:ln w="15875">
            <a:solidFill>
              <a:srgbClr val="D7DEE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329184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F2F6FD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4518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0" descr="/home/claude/deck/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570732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63040" y="34015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463040" y="37124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Lift, retorno e significância estatística entre grupos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040380" y="4069080"/>
            <a:ext cx="9144" cy="32004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02920" y="43891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F2994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" y="45491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1" descr="/home/claude/deck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668012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463040" y="44988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Política de Preço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463040" y="480974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recalibrado com base no grupo vencedor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59893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989320" y="148132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Multiagentes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7452360" y="20116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41B4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653528" y="2130552"/>
            <a:ext cx="420624" cy="420624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7" name="Image 2" descr="/home/claude/deck/icons/coordin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90" y="2239914"/>
            <a:ext cx="201900" cy="2019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229600" y="20665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229600" y="2359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 com o usuário e orquestra o time de agentes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8823960" y="2670048"/>
            <a:ext cx="9144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1" name="Shape 36"/>
          <p:cNvSpPr/>
          <p:nvPr/>
        </p:nvSpPr>
        <p:spPr>
          <a:xfrm>
            <a:off x="6583680" y="2834640"/>
            <a:ext cx="4480560" cy="914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2" name="Shape 37"/>
          <p:cNvSpPr/>
          <p:nvPr/>
        </p:nvSpPr>
        <p:spPr>
          <a:xfrm>
            <a:off x="6629400" y="2834640"/>
            <a:ext cx="9144" cy="38404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5989320" y="3218688"/>
            <a:ext cx="1280160" cy="288036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608076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373368" y="35295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3" descr="/home/claude/deck/icons/analyst_da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505" y="3662721"/>
            <a:ext cx="245791" cy="24579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099048" y="420624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6117336" y="4700016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prepara os dados no data mesh.</a:t>
            </a:r>
            <a:endParaRPr lang="en-US" sz="830" dirty="0"/>
          </a:p>
        </p:txBody>
      </p:sp>
      <p:sp>
        <p:nvSpPr>
          <p:cNvPr id="49" name="Shape 43"/>
          <p:cNvSpPr/>
          <p:nvPr/>
        </p:nvSpPr>
        <p:spPr>
          <a:xfrm>
            <a:off x="6099048" y="5596128"/>
            <a:ext cx="1060704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117336" y="559612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Conector</a:t>
            </a:r>
            <a:endParaRPr lang="en-US" sz="760" dirty="0"/>
          </a:p>
        </p:txBody>
      </p:sp>
      <p:sp>
        <p:nvSpPr>
          <p:cNvPr id="51" name="Shape 45"/>
          <p:cNvSpPr/>
          <p:nvPr/>
        </p:nvSpPr>
        <p:spPr>
          <a:xfrm>
            <a:off x="8092440" y="2834640"/>
            <a:ext cx="9144" cy="38404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2" name="Shape 46"/>
          <p:cNvSpPr/>
          <p:nvPr/>
        </p:nvSpPr>
        <p:spPr>
          <a:xfrm>
            <a:off x="7452360" y="3218688"/>
            <a:ext cx="1280160" cy="288036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75438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7836408" y="35295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5" name="Image 4" descr="/home/claude/deck/icons/scient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545" y="3662721"/>
            <a:ext cx="245791" cy="245791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7562088" y="420624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Cientista de Dados</a:t>
            </a:r>
            <a:endParaRPr lang="en-US" sz="1050" dirty="0"/>
          </a:p>
        </p:txBody>
      </p:sp>
      <p:sp>
        <p:nvSpPr>
          <p:cNvPr id="57" name="Text 50"/>
          <p:cNvSpPr/>
          <p:nvPr/>
        </p:nvSpPr>
        <p:spPr>
          <a:xfrm>
            <a:off x="7580376" y="4700016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experimental dos grupos (lift, retorno).</a:t>
            </a:r>
            <a:endParaRPr lang="en-US" sz="830" dirty="0"/>
          </a:p>
        </p:txBody>
      </p:sp>
      <p:sp>
        <p:nvSpPr>
          <p:cNvPr id="58" name="Shape 51"/>
          <p:cNvSpPr/>
          <p:nvPr/>
        </p:nvSpPr>
        <p:spPr>
          <a:xfrm>
            <a:off x="7562088" y="5596128"/>
            <a:ext cx="1060704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7580376" y="559612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760" dirty="0"/>
          </a:p>
        </p:txBody>
      </p:sp>
      <p:sp>
        <p:nvSpPr>
          <p:cNvPr id="60" name="Shape 53"/>
          <p:cNvSpPr/>
          <p:nvPr/>
        </p:nvSpPr>
        <p:spPr>
          <a:xfrm>
            <a:off x="9555480" y="2834640"/>
            <a:ext cx="9144" cy="38404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1" name="Shape 54"/>
          <p:cNvSpPr/>
          <p:nvPr/>
        </p:nvSpPr>
        <p:spPr>
          <a:xfrm>
            <a:off x="8915400" y="3218688"/>
            <a:ext cx="1280160" cy="288036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2" name="Text 55"/>
          <p:cNvSpPr/>
          <p:nvPr/>
        </p:nvSpPr>
        <p:spPr>
          <a:xfrm>
            <a:off x="900684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9299448" y="35295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4" name="Image 5" descr="/home/claude/deck/icons/analyst_pric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585" y="3662721"/>
            <a:ext cx="245791" cy="245791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9025128" y="420624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Pricing</a:t>
            </a:r>
            <a:endParaRPr lang="en-US" sz="1050" dirty="0"/>
          </a:p>
        </p:txBody>
      </p:sp>
      <p:sp>
        <p:nvSpPr>
          <p:cNvPr id="66" name="Text 58"/>
          <p:cNvSpPr/>
          <p:nvPr/>
        </p:nvSpPr>
        <p:spPr>
          <a:xfrm>
            <a:off x="9043416" y="4700016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oportunidades e recomenda preços.</a:t>
            </a:r>
            <a:endParaRPr lang="en-US" sz="830" dirty="0"/>
          </a:p>
        </p:txBody>
      </p:sp>
      <p:sp>
        <p:nvSpPr>
          <p:cNvPr id="67" name="Shape 59"/>
          <p:cNvSpPr/>
          <p:nvPr/>
        </p:nvSpPr>
        <p:spPr>
          <a:xfrm>
            <a:off x="9025128" y="5596128"/>
            <a:ext cx="1060704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9043416" y="559612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760" dirty="0"/>
          </a:p>
        </p:txBody>
      </p:sp>
      <p:sp>
        <p:nvSpPr>
          <p:cNvPr id="69" name="Shape 61"/>
          <p:cNvSpPr/>
          <p:nvPr/>
        </p:nvSpPr>
        <p:spPr>
          <a:xfrm>
            <a:off x="11018520" y="2834640"/>
            <a:ext cx="9144" cy="38404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0" name="Shape 62"/>
          <p:cNvSpPr/>
          <p:nvPr/>
        </p:nvSpPr>
        <p:spPr>
          <a:xfrm>
            <a:off x="10378440" y="3218688"/>
            <a:ext cx="1280160" cy="288036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1" name="Text 63"/>
          <p:cNvSpPr/>
          <p:nvPr/>
        </p:nvSpPr>
        <p:spPr>
          <a:xfrm>
            <a:off x="1046988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72" name="Shape 64"/>
          <p:cNvSpPr/>
          <p:nvPr/>
        </p:nvSpPr>
        <p:spPr>
          <a:xfrm>
            <a:off x="10762488" y="35295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3" name="Image 6" descr="/home/claude/deck/icons/analyst_op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5625" y="3662721"/>
            <a:ext cx="245791" cy="245791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10488168" y="420624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Operações</a:t>
            </a:r>
            <a:endParaRPr lang="en-US" sz="1050" dirty="0"/>
          </a:p>
        </p:txBody>
      </p:sp>
      <p:sp>
        <p:nvSpPr>
          <p:cNvPr id="75" name="Text 66"/>
          <p:cNvSpPr/>
          <p:nvPr/>
        </p:nvSpPr>
        <p:spPr>
          <a:xfrm>
            <a:off x="10506456" y="4700016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a nova política de preços.</a:t>
            </a:r>
            <a:endParaRPr lang="en-US" sz="830" dirty="0"/>
          </a:p>
        </p:txBody>
      </p:sp>
      <p:sp>
        <p:nvSpPr>
          <p:cNvPr id="76" name="Shape 67"/>
          <p:cNvSpPr/>
          <p:nvPr/>
        </p:nvSpPr>
        <p:spPr>
          <a:xfrm>
            <a:off x="10488168" y="5596128"/>
            <a:ext cx="1060704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10506456" y="559612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760" dirty="0"/>
          </a:p>
        </p:txBody>
      </p:sp>
      <p:sp>
        <p:nvSpPr>
          <p:cNvPr id="78" name="Text 6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79" name="Text 70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fases, do experimento à produção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Experimentação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ABC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0632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01/09 – 14/09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semanas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INCREMENTAL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R$ 480 mil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RECEITA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+1,2%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SPREAD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 p.p.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VOLUME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+0,8%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16552" y="137160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162763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0872" y="1874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690872" y="22677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diferentes abordagens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2697480"/>
            <a:ext cx="30632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28803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90872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15/09 – 12/10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90872" y="3429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90872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semanas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90872" y="39776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INCREMENTAL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90872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R$ 1,3 milhão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690872" y="452628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RECEITA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90872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+2,6%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690872" y="507492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SPREAD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90872" y="5257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 p.p.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690872" y="56235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VOLUME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90872" y="5806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+1,5%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8284464" y="137160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2994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558784" y="162763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58784" y="1874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558784" y="22677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com a melhor abordagem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58784" y="2697480"/>
            <a:ext cx="3063240" cy="0"/>
          </a:xfrm>
          <a:prstGeom prst="line">
            <a:avLst/>
          </a:prstGeom>
          <a:noFill/>
          <a:ln w="12700">
            <a:solidFill>
              <a:srgbClr val="F6C8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58784" y="28803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58784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13/10 – 23/11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8558784" y="3429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58784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semanas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8558784" y="39776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INCREMENTAL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58784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R$ 2,9 milhões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8558784" y="452628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RECEITA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58784" y="4709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+4,1%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8558784" y="507492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SPREAD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58784" y="5257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+0,9 p.p.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8558784" y="562356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D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VOLUME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558784" y="58064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+2,7%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548640" y="6373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ilustrativos — a ajustar conforme apuração real de cada fase.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POC aos próximos incrementos de motor e agente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794760"/>
            <a:ext cx="10149840" cy="0"/>
          </a:xfrm>
          <a:prstGeom prst="line">
            <a:avLst/>
          </a:prstGeom>
          <a:noFill/>
          <a:ln w="254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658368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6035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89720" y="658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0" y="6035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3648456"/>
            <a:ext cx="292608" cy="292608"/>
          </a:xfrm>
          <a:prstGeom prst="ellipse">
            <a:avLst/>
          </a:prstGeom>
          <a:solidFill>
            <a:srgbClr val="141B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4050792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41B4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40507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02536" y="369417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895344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17320" y="4114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90472" y="416966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90472" y="44074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0472" y="45994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rating para toda a 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28416" y="3694176"/>
            <a:ext cx="201168" cy="201168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429000" y="3474720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743200" y="214884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16352" y="220370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16352" y="244144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16352" y="263347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na AWS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54296" y="369417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895344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069080" y="4114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42232" y="416966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42232" y="44074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42232" y="45994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distribuição e dados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0176" y="3694176"/>
            <a:ext cx="201168" cy="201168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80760" y="3474720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394960" y="214884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68112" y="220370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68112" y="244144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68112" y="263347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com IARA + LangGraph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06056" y="3694176"/>
            <a:ext cx="201168" cy="201168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406640" y="3474720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6720840" y="214884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93992" y="220370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93992" y="244144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93992" y="263347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RITM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31936" y="3694176"/>
            <a:ext cx="201168" cy="20116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3895344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046720" y="4114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19872" y="416966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19872" y="44074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19872" y="45994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variáveis (região, IPP, recência...)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957816" y="3694176"/>
            <a:ext cx="201168" cy="201168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058400" y="3474720"/>
            <a:ext cx="9144" cy="219456"/>
          </a:xfrm>
          <a:prstGeom prst="line">
            <a:avLst/>
          </a:prstGeom>
          <a:noFill/>
          <a:ln w="22225">
            <a:solidFill>
              <a:srgbClr val="D7DEEA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9372600" y="214884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6FD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445752" y="220370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445752" y="244144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445752" y="263347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chat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Dinâmica Inteligente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2026-07-27T02:13:12Z</dcterms:created>
  <dcterms:modified xsi:type="dcterms:W3CDTF">2026-07-27T02:13:12Z</dcterms:modified>
</cp:coreProperties>
</file>