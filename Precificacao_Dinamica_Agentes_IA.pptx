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1.png"/><Relationship Id="rId6" Type="http://schemas.openxmlformats.org/officeDocument/2006/relationships/image" Target="../media/image-6-2.png"/><Relationship Id="rId7" Type="http://schemas.openxmlformats.org/officeDocument/2006/relationships/image" Target="../media/image-6-3.png"/><Relationship Id="rId8" Type="http://schemas.openxmlformats.org/officeDocument/2006/relationships/image" Target="../media/image-6-4.png"/><Relationship Id="rId9" Type="http://schemas.openxmlformats.org/officeDocument/2006/relationships/image" Target="../media/image-6-1.png"/><Relationship Id="rId10" Type="http://schemas.openxmlformats.org/officeDocument/2006/relationships/image" Target="../media/image-6-2.png"/><Relationship Id="rId11" Type="http://schemas.openxmlformats.org/officeDocument/2006/relationships/image" Target="../media/image-6-3.png"/><Relationship Id="rId12" Type="http://schemas.openxmlformats.org/officeDocument/2006/relationships/image" Target="../media/image-6-4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4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2011680"/>
            <a:ext cx="5943600" cy="5943600"/>
          </a:xfrm>
          <a:prstGeom prst="ellipse">
            <a:avLst/>
          </a:prstGeom>
          <a:solidFill>
            <a:srgbClr val="141A45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206240"/>
            <a:ext cx="3291840" cy="3291840"/>
          </a:xfrm>
          <a:prstGeom prst="ellipse">
            <a:avLst/>
          </a:prstGeom>
          <a:ln w="19050">
            <a:solidFill>
              <a:srgbClr val="FF6B3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965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INTELLIGENCE · ANTECIPAÇÃO AVULSA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9418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Precificação Dinâmica com Agentes de IA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 motor estático a um sistema que testa, aprende e se recalibra continuamente.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FF6B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  ·  Owner, Precificação de Antecipação Avulsa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CONTEXTO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 preço é definido hoje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2331720"/>
            <a:ext cx="1965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3020" y="245973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clever-practical-lovelace/mnt/outputs/icons/jour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3487" y="2540203"/>
            <a:ext cx="204826" cy="20482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862072"/>
            <a:ext cx="178308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Contratação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063240" y="2331720"/>
            <a:ext cx="196596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863340" y="245973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sessions/clever-practical-lovelace/mnt/outputs/icons/eng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807" y="2540203"/>
            <a:ext cx="204826" cy="204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54680" y="2862072"/>
            <a:ext cx="1783080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06440" y="1234440"/>
            <a:ext cx="23317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789420" y="136245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sessions/clever-practical-lovelace/mnt/outputs/icons/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887" y="1442923"/>
            <a:ext cx="204826" cy="20482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97880" y="1764792"/>
            <a:ext cx="214884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de Contrato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Oferta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806440" y="3246120"/>
            <a:ext cx="233172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25400">
            <a:solidFill>
              <a:srgbClr val="FF6B35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789420" y="3374136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18" name="Image 3" descr="/sessions/clever-practical-lovelace/mnt/outputs/icons/dynam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9887" y="3454603"/>
            <a:ext cx="204826" cy="20482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897880" y="3776472"/>
            <a:ext cx="2148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Dinâmico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02920" y="41605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303020" y="428853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/sessions/clever-practical-lovelace/mnt/outputs/icons/op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3487" y="4369003"/>
            <a:ext cx="204826" cy="20482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94360" y="4690872"/>
            <a:ext cx="1783080" cy="3931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150" dirty="0"/>
          </a:p>
        </p:txBody>
      </p:sp>
      <p:sp>
        <p:nvSpPr>
          <p:cNvPr id="24" name="Shape 17"/>
          <p:cNvSpPr/>
          <p:nvPr/>
        </p:nvSpPr>
        <p:spPr>
          <a:xfrm>
            <a:off x="2468880" y="2903220"/>
            <a:ext cx="594360" cy="91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25" name="Shape 18"/>
          <p:cNvSpPr/>
          <p:nvPr/>
        </p:nvSpPr>
        <p:spPr>
          <a:xfrm>
            <a:off x="5029200" y="2697480"/>
            <a:ext cx="457200" cy="91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26" name="Shape 19"/>
          <p:cNvSpPr/>
          <p:nvPr/>
        </p:nvSpPr>
        <p:spPr>
          <a:xfrm flipV="1">
            <a:off x="5486400" y="1714500"/>
            <a:ext cx="914" cy="98298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27" name="Shape 20"/>
          <p:cNvSpPr/>
          <p:nvPr/>
        </p:nvSpPr>
        <p:spPr>
          <a:xfrm>
            <a:off x="5486400" y="1714500"/>
            <a:ext cx="320040" cy="91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28" name="Shape 21"/>
          <p:cNvSpPr/>
          <p:nvPr/>
        </p:nvSpPr>
        <p:spPr>
          <a:xfrm>
            <a:off x="5029200" y="3154680"/>
            <a:ext cx="457200" cy="914"/>
          </a:xfrm>
          <a:prstGeom prst="line">
            <a:avLst/>
          </a:prstGeom>
          <a:noFill/>
          <a:ln w="25400">
            <a:solidFill>
              <a:srgbClr val="FF6B35"/>
            </a:solidFill>
            <a:prstDash val="solid"/>
            <a:headEnd type="none"/>
            <a:tailEnd type="none"/>
          </a:ln>
        </p:spPr>
      </p:sp>
      <p:sp>
        <p:nvSpPr>
          <p:cNvPr id="29" name="Shape 22"/>
          <p:cNvSpPr/>
          <p:nvPr/>
        </p:nvSpPr>
        <p:spPr>
          <a:xfrm>
            <a:off x="5486400" y="3154680"/>
            <a:ext cx="914" cy="685800"/>
          </a:xfrm>
          <a:prstGeom prst="line">
            <a:avLst/>
          </a:prstGeom>
          <a:noFill/>
          <a:ln w="25400">
            <a:solidFill>
              <a:srgbClr val="FF6B35"/>
            </a:solidFill>
            <a:prstDash val="solid"/>
            <a:headEnd type="none"/>
            <a:tailEnd type="none"/>
          </a:ln>
        </p:spPr>
      </p:sp>
      <p:sp>
        <p:nvSpPr>
          <p:cNvPr id="30" name="Shape 23"/>
          <p:cNvSpPr/>
          <p:nvPr/>
        </p:nvSpPr>
        <p:spPr>
          <a:xfrm>
            <a:off x="5486400" y="3840480"/>
            <a:ext cx="320040" cy="914"/>
          </a:xfrm>
          <a:prstGeom prst="line">
            <a:avLst/>
          </a:prstGeom>
          <a:noFill/>
          <a:ln w="25400">
            <a:solidFill>
              <a:srgbClr val="FF6B35"/>
            </a:solidFill>
            <a:prstDash val="solid"/>
            <a:headEnd type="none"/>
            <a:tailEnd type="triangle"/>
          </a:ln>
        </p:spPr>
      </p:sp>
      <p:sp>
        <p:nvSpPr>
          <p:cNvPr id="31" name="Shape 24"/>
          <p:cNvSpPr/>
          <p:nvPr/>
        </p:nvSpPr>
        <p:spPr>
          <a:xfrm>
            <a:off x="1485900" y="3474720"/>
            <a:ext cx="914" cy="6858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32" name="Shape 25"/>
          <p:cNvSpPr/>
          <p:nvPr/>
        </p:nvSpPr>
        <p:spPr>
          <a:xfrm>
            <a:off x="8732520" y="2880360"/>
            <a:ext cx="2971800" cy="1737360"/>
          </a:xfrm>
          <a:prstGeom prst="roundRect">
            <a:avLst>
              <a:gd name="adj" fmla="val 4737"/>
            </a:avLst>
          </a:prstGeom>
          <a:solidFill>
            <a:srgbClr val="FFEEE6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 flipV="1">
            <a:off x="8138160" y="3749040"/>
            <a:ext cx="594360" cy="91440"/>
          </a:xfrm>
          <a:prstGeom prst="line">
            <a:avLst/>
          </a:prstGeom>
          <a:noFill/>
          <a:ln w="19050">
            <a:solidFill>
              <a:srgbClr val="FF6B35"/>
            </a:solidFill>
            <a:prstDash val="dash"/>
            <a:headEnd type="none"/>
            <a:tailEnd type="triangle"/>
          </a:ln>
        </p:spPr>
      </p:sp>
      <p:sp>
        <p:nvSpPr>
          <p:cNvPr id="34" name="Text 27"/>
          <p:cNvSpPr/>
          <p:nvPr/>
        </p:nvSpPr>
        <p:spPr>
          <a:xfrm>
            <a:off x="8915400" y="302666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Composição do Preço Dinâmico</a:t>
            </a:r>
            <a:endParaRPr lang="en-US" sz="1200" dirty="0"/>
          </a:p>
        </p:txBody>
      </p:sp>
      <p:sp>
        <p:nvSpPr>
          <p:cNvPr id="35" name="Shape 28"/>
          <p:cNvSpPr/>
          <p:nvPr/>
        </p:nvSpPr>
        <p:spPr>
          <a:xfrm>
            <a:off x="8915400" y="3410712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6" name="Text 29"/>
          <p:cNvSpPr/>
          <p:nvPr/>
        </p:nvSpPr>
        <p:spPr>
          <a:xfrm>
            <a:off x="8915400" y="3410712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(dados cliente + operação)</a:t>
            </a:r>
            <a:endParaRPr lang="en-US" sz="950" dirty="0"/>
          </a:p>
        </p:txBody>
      </p:sp>
      <p:sp>
        <p:nvSpPr>
          <p:cNvPr id="37" name="Text 30"/>
          <p:cNvSpPr/>
          <p:nvPr/>
        </p:nvSpPr>
        <p:spPr>
          <a:xfrm>
            <a:off x="8915400" y="3794760"/>
            <a:ext cx="2606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8915400" y="4014216"/>
            <a:ext cx="2606040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9" name="Text 32"/>
          <p:cNvSpPr/>
          <p:nvPr/>
        </p:nvSpPr>
        <p:spPr>
          <a:xfrm>
            <a:off x="8915400" y="4014216"/>
            <a:ext cx="2606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de Funding</a:t>
            </a:r>
            <a:endParaRPr lang="en-US" sz="950" dirty="0"/>
          </a:p>
        </p:txBody>
      </p:sp>
      <p:sp>
        <p:nvSpPr>
          <p:cNvPr id="40" name="Text 33"/>
          <p:cNvSpPr/>
          <p:nvPr/>
        </p:nvSpPr>
        <p:spPr>
          <a:xfrm>
            <a:off x="502920" y="56235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de contratação aciona o motor de precificação, que devolve o preço de contrato/oferta ou o preço dinâmico — apurado em conjunto com a área de Operação.</a:t>
            </a:r>
            <a:endParaRPr lang="en-US" sz="1050" dirty="0"/>
          </a:p>
        </p:txBody>
      </p:sp>
      <p:sp>
        <p:nvSpPr>
          <p:cNvPr id="41" name="Text 34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Dinâmica · Antecipação Avulsa</a:t>
            </a:r>
            <a:endParaRPr lang="en-US" sz="900" dirty="0"/>
          </a:p>
        </p:txBody>
      </p:sp>
      <p:sp>
        <p:nvSpPr>
          <p:cNvPr id="42" name="Text 35"/>
          <p:cNvSpPr/>
          <p:nvPr/>
        </p:nvSpPr>
        <p:spPr>
          <a:xfrm>
            <a:off x="11185855" y="65471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DESAFIO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preço dinâmico que não acompanha o mercado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417320"/>
            <a:ext cx="34290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E2761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9224" y="156362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clever-practical-lovelace/mnt/outputs/icons/parametriz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341" y="1677741"/>
            <a:ext cx="247254" cy="2472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71016" y="1545336"/>
            <a:ext cx="2496312" cy="74706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 artesanal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71016" y="2321662"/>
            <a:ext cx="2496312" cy="94366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preço dinâmico depende de alguém apurar e parametrizar o spread manualmente, com base em julgamento.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87952" y="1417320"/>
            <a:ext cx="34290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E2761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34256" y="156362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sessions/clever-practical-lovelace/mnt/outputs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373" y="1677741"/>
            <a:ext cx="247254" cy="24725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56048" y="1545336"/>
            <a:ext cx="2496312" cy="74706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experimentação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956048" y="2321662"/>
            <a:ext cx="2496312" cy="94366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existiu um teste controlado (A/B) que validasse o impacto real de uma mudança de preço.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872984" y="1417320"/>
            <a:ext cx="342900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E2761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19288" y="156362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sessions/clever-practical-lovelace/mnt/outputs/icons/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3405" y="1677741"/>
            <a:ext cx="247254" cy="24725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41080" y="1545336"/>
            <a:ext cx="2496312" cy="747065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leitura em tempo real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8641080" y="2321662"/>
            <a:ext cx="2496312" cy="94366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se houvesse teste, hoje não temos capacidade de analisar resultados fora do fechamento mensal.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02920" y="3794760"/>
            <a:ext cx="11183112" cy="2148840"/>
          </a:xfrm>
          <a:prstGeom prst="roundRect">
            <a:avLst>
              <a:gd name="adj" fmla="val 3830"/>
            </a:avLst>
          </a:prstGeom>
          <a:solidFill>
            <a:srgbClr val="FAFBFD"/>
          </a:solidFill>
          <a:ln w="12700">
            <a:solidFill>
              <a:srgbClr val="D8DEEA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77240" y="3977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DE RESPOSTA ATUAL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777240" y="4480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822960" y="4480560"/>
            <a:ext cx="1600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Parametrização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2468880" y="4914900"/>
            <a:ext cx="365760" cy="914"/>
          </a:xfrm>
          <a:prstGeom prst="line">
            <a:avLst/>
          </a:prstGeom>
          <a:noFill/>
          <a:ln w="19050">
            <a:solidFill>
              <a:srgbClr val="5B6479"/>
            </a:solidFill>
            <a:prstDash val="solid"/>
            <a:headEnd type="none"/>
            <a:tailEnd type="triangle"/>
          </a:ln>
        </p:spPr>
      </p:sp>
      <p:sp>
        <p:nvSpPr>
          <p:cNvPr id="24" name="Shape 19"/>
          <p:cNvSpPr/>
          <p:nvPr/>
        </p:nvSpPr>
        <p:spPr>
          <a:xfrm>
            <a:off x="2834640" y="4480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80360" y="4480560"/>
            <a:ext cx="1600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mercado</a:t>
            </a:r>
            <a:endParaRPr lang="en-US" sz="1050" dirty="0"/>
          </a:p>
        </p:txBody>
      </p:sp>
      <p:sp>
        <p:nvSpPr>
          <p:cNvPr id="26" name="Shape 21"/>
          <p:cNvSpPr/>
          <p:nvPr/>
        </p:nvSpPr>
        <p:spPr>
          <a:xfrm>
            <a:off x="4526280" y="4914900"/>
            <a:ext cx="365760" cy="914"/>
          </a:xfrm>
          <a:prstGeom prst="line">
            <a:avLst/>
          </a:prstGeom>
          <a:noFill/>
          <a:ln w="19050">
            <a:solidFill>
              <a:srgbClr val="5B6479"/>
            </a:solidFill>
            <a:prstDash val="solid"/>
            <a:headEnd type="none"/>
            <a:tailEnd type="triangle"/>
          </a:ln>
        </p:spPr>
      </p:sp>
      <p:sp>
        <p:nvSpPr>
          <p:cNvPr id="27" name="Shape 22"/>
          <p:cNvSpPr/>
          <p:nvPr/>
        </p:nvSpPr>
        <p:spPr>
          <a:xfrm>
            <a:off x="4892040" y="4480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4937760" y="4480560"/>
            <a:ext cx="1600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Apuração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(fim de mês)</a:t>
            </a:r>
            <a:endParaRPr lang="en-US" sz="1050" dirty="0"/>
          </a:p>
        </p:txBody>
      </p:sp>
      <p:sp>
        <p:nvSpPr>
          <p:cNvPr id="29" name="Shape 24"/>
          <p:cNvSpPr/>
          <p:nvPr/>
        </p:nvSpPr>
        <p:spPr>
          <a:xfrm>
            <a:off x="6583680" y="4914900"/>
            <a:ext cx="365760" cy="914"/>
          </a:xfrm>
          <a:prstGeom prst="line">
            <a:avLst/>
          </a:prstGeom>
          <a:noFill/>
          <a:ln w="19050">
            <a:solidFill>
              <a:srgbClr val="5B6479"/>
            </a:solidFill>
            <a:prstDash val="solid"/>
            <a:headEnd type="none"/>
            <a:tailEnd type="triangle"/>
          </a:ln>
        </p:spPr>
      </p:sp>
      <p:sp>
        <p:nvSpPr>
          <p:cNvPr id="30" name="Shape 25"/>
          <p:cNvSpPr/>
          <p:nvPr/>
        </p:nvSpPr>
        <p:spPr>
          <a:xfrm>
            <a:off x="6949440" y="4480560"/>
            <a:ext cx="169164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995160" y="4480560"/>
            <a:ext cx="1600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ajuste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spread</a:t>
            </a:r>
            <a:endParaRPr lang="en-US" sz="1050" dirty="0"/>
          </a:p>
        </p:txBody>
      </p:sp>
      <p:sp>
        <p:nvSpPr>
          <p:cNvPr id="32" name="Shape 27"/>
          <p:cNvSpPr/>
          <p:nvPr/>
        </p:nvSpPr>
        <p:spPr>
          <a:xfrm flipH="1">
            <a:off x="1623060" y="5349240"/>
            <a:ext cx="6172200" cy="914"/>
          </a:xfrm>
          <a:prstGeom prst="line">
            <a:avLst/>
          </a:prstGeom>
          <a:noFill/>
          <a:ln w="19050">
            <a:solidFill>
              <a:srgbClr val="5B6479"/>
            </a:solidFill>
            <a:prstDash val="dash"/>
            <a:headEnd type="none"/>
            <a:tailEnd type="triangle"/>
          </a:ln>
        </p:spPr>
      </p:sp>
      <p:sp>
        <p:nvSpPr>
          <p:cNvPr id="33" name="Shape 28"/>
          <p:cNvSpPr/>
          <p:nvPr/>
        </p:nvSpPr>
        <p:spPr>
          <a:xfrm>
            <a:off x="1623060" y="5349240"/>
            <a:ext cx="0" cy="320040"/>
          </a:xfrm>
          <a:prstGeom prst="line">
            <a:avLst/>
          </a:prstGeom>
          <a:noFill/>
          <a:ln w="15875">
            <a:solidFill>
              <a:srgbClr val="5B6479"/>
            </a:solidFill>
            <a:prstDash val="dash"/>
            <a:tailEnd type="none"/>
          </a:ln>
        </p:spPr>
      </p:sp>
      <p:sp>
        <p:nvSpPr>
          <p:cNvPr id="34" name="Shape 29"/>
          <p:cNvSpPr/>
          <p:nvPr/>
        </p:nvSpPr>
        <p:spPr>
          <a:xfrm>
            <a:off x="7795260" y="5349240"/>
            <a:ext cx="0" cy="320040"/>
          </a:xfrm>
          <a:prstGeom prst="line">
            <a:avLst/>
          </a:prstGeom>
          <a:noFill/>
          <a:ln w="15875">
            <a:solidFill>
              <a:srgbClr val="5B6479"/>
            </a:solidFill>
            <a:prstDash val="dash"/>
            <a:tailEnd type="none"/>
          </a:ln>
        </p:spPr>
      </p:sp>
      <p:sp>
        <p:nvSpPr>
          <p:cNvPr id="35" name="Shape 30"/>
          <p:cNvSpPr/>
          <p:nvPr/>
        </p:nvSpPr>
        <p:spPr>
          <a:xfrm flipH="1">
            <a:off x="1623060" y="5669280"/>
            <a:ext cx="6172200" cy="0"/>
          </a:xfrm>
          <a:prstGeom prst="line">
            <a:avLst/>
          </a:prstGeom>
          <a:noFill/>
          <a:ln w="15875">
            <a:solidFill>
              <a:srgbClr val="5B6479"/>
            </a:solidFill>
            <a:prstDash val="dash"/>
            <a:tailEnd type="triangle"/>
          </a:ln>
        </p:spPr>
      </p:sp>
      <p:sp>
        <p:nvSpPr>
          <p:cNvPr id="36" name="Shape 31"/>
          <p:cNvSpPr/>
          <p:nvPr/>
        </p:nvSpPr>
        <p:spPr>
          <a:xfrm>
            <a:off x="9281160" y="4434840"/>
            <a:ext cx="1965960" cy="1234440"/>
          </a:xfrm>
          <a:prstGeom prst="roundRect">
            <a:avLst>
              <a:gd name="adj" fmla="val 6667"/>
            </a:avLst>
          </a:prstGeom>
          <a:solidFill>
            <a:srgbClr val="FF6B35"/>
          </a:solidFill>
          <a:ln/>
        </p:spPr>
      </p:sp>
      <p:sp>
        <p:nvSpPr>
          <p:cNvPr id="37" name="Text 32"/>
          <p:cNvSpPr/>
          <p:nvPr/>
        </p:nvSpPr>
        <p:spPr>
          <a:xfrm>
            <a:off x="9281160" y="4544568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dias</a:t>
            </a:r>
            <a:endParaRPr lang="en-US" sz="2400" dirty="0"/>
          </a:p>
        </p:txBody>
      </p:sp>
      <p:sp>
        <p:nvSpPr>
          <p:cNvPr id="38" name="Text 33"/>
          <p:cNvSpPr/>
          <p:nvPr/>
        </p:nvSpPr>
        <p:spPr>
          <a:xfrm>
            <a:off x="9372600" y="5184648"/>
            <a:ext cx="17830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ciclo de ajuste</a:t>
            </a:r>
            <a:endParaRPr lang="en-US" sz="950" dirty="0"/>
          </a:p>
        </p:txBody>
      </p:sp>
      <p:sp>
        <p:nvSpPr>
          <p:cNvPr id="39" name="Text 34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Dinâmica · Antecipação Avulsa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11185855" y="65471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VISÃO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agente que retroalimenta o motor em tempo real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03020" y="209397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sessions/clever-practical-lovelace/mnt/outputs/icons/jour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3487" y="2174443"/>
            <a:ext cx="204826" cy="20482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" y="2496312"/>
            <a:ext cx="1783080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Contratação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063240" y="1965960"/>
            <a:ext cx="19659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863340" y="209397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sessions/clever-practical-lovelace/mnt/outputs/icons/engi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3807" y="2174443"/>
            <a:ext cx="204826" cy="20482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54680" y="2496312"/>
            <a:ext cx="1783080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806440" y="914400"/>
            <a:ext cx="233172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789420" y="104241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sessions/clever-practical-lovelace/mnt/outputs/icons/contra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887" y="1122883"/>
            <a:ext cx="204826" cy="20482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97880" y="1444752"/>
            <a:ext cx="2148840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de Contrato / Oferta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806440" y="2788920"/>
            <a:ext cx="2331720" cy="10972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25400">
            <a:solidFill>
              <a:srgbClr val="FF6B35"/>
            </a:solidFill>
            <a:prstDash val="solid"/>
          </a:ln>
          <a:effectLst>
            <a:outerShdw sx="100000" sy="100000" kx="0" ky="0" algn="bl" rotWithShape="0" blurRad="127000" dist="38100" dir="5400000">
              <a:srgbClr val="1E2761">
                <a:alpha val="2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789420" y="2916936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18" name="Image 3" descr="/sessions/clever-practical-lovelace/mnt/outputs/icons/dynami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9887" y="2997403"/>
            <a:ext cx="204826" cy="20482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897880" y="3319272"/>
            <a:ext cx="214884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Dinâmico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02920" y="370332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1303020" y="383133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2" name="Image 4" descr="/sessions/clever-practical-lovelace/mnt/outputs/icons/op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3487" y="3911803"/>
            <a:ext cx="204826" cy="20482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94360" y="4233672"/>
            <a:ext cx="1783080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Operação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063240" y="484632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dash"/>
          </a:ln>
          <a:effectLst>
            <a:outerShdw sx="100000" sy="100000" kx="0" ky="0" algn="bl" rotWithShape="0" blurRad="76200" dist="25400" dir="5400000">
              <a:srgbClr val="1E2761">
                <a:alpha val="16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3863340" y="4974336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5" descr="/sessions/clever-practical-lovelace/mnt/outputs/icons/datames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3807" y="5054803"/>
            <a:ext cx="204826" cy="20482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154680" y="5376672"/>
            <a:ext cx="1783080" cy="301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Mesh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5623560" y="4846320"/>
            <a:ext cx="269748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25400">
            <a:solidFill>
              <a:srgbClr val="FF6B35"/>
            </a:solidFill>
            <a:prstDash val="dash"/>
          </a:ln>
          <a:effectLst>
            <a:outerShdw sx="100000" sy="100000" kx="0" ky="0" algn="bl" rotWithShape="0" blurRad="127000" dist="38100" dir="5400000">
              <a:srgbClr val="1E2761">
                <a:alpha val="28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6789420" y="4974336"/>
            <a:ext cx="365760" cy="365760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30" name="Image 6" descr="/sessions/clever-practical-lovelace/mnt/outputs/icons/age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69887" y="5054803"/>
            <a:ext cx="204826" cy="20482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715000" y="5376672"/>
            <a:ext cx="2514600" cy="4846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de Recalibração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2468880" y="2491740"/>
            <a:ext cx="594360" cy="91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3" name="Shape 24"/>
          <p:cNvSpPr/>
          <p:nvPr/>
        </p:nvSpPr>
        <p:spPr>
          <a:xfrm>
            <a:off x="5029200" y="2228850"/>
            <a:ext cx="457200" cy="91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34" name="Shape 25"/>
          <p:cNvSpPr/>
          <p:nvPr/>
        </p:nvSpPr>
        <p:spPr>
          <a:xfrm flipV="1">
            <a:off x="5486400" y="1348740"/>
            <a:ext cx="914" cy="88011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35" name="Shape 26"/>
          <p:cNvSpPr/>
          <p:nvPr/>
        </p:nvSpPr>
        <p:spPr>
          <a:xfrm>
            <a:off x="5486400" y="1348740"/>
            <a:ext cx="320040" cy="914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36" name="Shape 27"/>
          <p:cNvSpPr/>
          <p:nvPr/>
        </p:nvSpPr>
        <p:spPr>
          <a:xfrm>
            <a:off x="5029200" y="2859786"/>
            <a:ext cx="457200" cy="914"/>
          </a:xfrm>
          <a:prstGeom prst="line">
            <a:avLst/>
          </a:prstGeom>
          <a:noFill/>
          <a:ln w="25400">
            <a:solidFill>
              <a:srgbClr val="FF6B35"/>
            </a:solidFill>
            <a:prstDash val="solid"/>
            <a:headEnd type="none"/>
            <a:tailEnd type="none"/>
          </a:ln>
        </p:spPr>
      </p:sp>
      <p:sp>
        <p:nvSpPr>
          <p:cNvPr id="37" name="Shape 28"/>
          <p:cNvSpPr/>
          <p:nvPr/>
        </p:nvSpPr>
        <p:spPr>
          <a:xfrm>
            <a:off x="5486400" y="2859786"/>
            <a:ext cx="914" cy="477774"/>
          </a:xfrm>
          <a:prstGeom prst="line">
            <a:avLst/>
          </a:prstGeom>
          <a:noFill/>
          <a:ln w="25400">
            <a:solidFill>
              <a:srgbClr val="FF6B35"/>
            </a:solidFill>
            <a:prstDash val="solid"/>
            <a:headEnd type="none"/>
            <a:tailEnd type="none"/>
          </a:ln>
        </p:spPr>
      </p:sp>
      <p:sp>
        <p:nvSpPr>
          <p:cNvPr id="38" name="Shape 29"/>
          <p:cNvSpPr/>
          <p:nvPr/>
        </p:nvSpPr>
        <p:spPr>
          <a:xfrm>
            <a:off x="5486400" y="3337560"/>
            <a:ext cx="320040" cy="914"/>
          </a:xfrm>
          <a:prstGeom prst="line">
            <a:avLst/>
          </a:prstGeom>
          <a:noFill/>
          <a:ln w="25400">
            <a:solidFill>
              <a:srgbClr val="FF6B35"/>
            </a:solidFill>
            <a:prstDash val="solid"/>
            <a:headEnd type="none"/>
            <a:tailEnd type="triangle"/>
          </a:ln>
        </p:spPr>
      </p:sp>
      <p:sp>
        <p:nvSpPr>
          <p:cNvPr id="39" name="Shape 30"/>
          <p:cNvSpPr/>
          <p:nvPr/>
        </p:nvSpPr>
        <p:spPr>
          <a:xfrm>
            <a:off x="1485900" y="3017520"/>
            <a:ext cx="914" cy="68580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triangle"/>
            <a:tailEnd type="triangle"/>
          </a:ln>
        </p:spPr>
      </p:sp>
      <p:sp>
        <p:nvSpPr>
          <p:cNvPr id="40" name="Shape 31"/>
          <p:cNvSpPr/>
          <p:nvPr/>
        </p:nvSpPr>
        <p:spPr>
          <a:xfrm>
            <a:off x="4046220" y="3017520"/>
            <a:ext cx="914" cy="18288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  <a:headEnd type="triangle"/>
            <a:tailEnd type="triangle"/>
          </a:ln>
        </p:spPr>
      </p:sp>
      <p:sp>
        <p:nvSpPr>
          <p:cNvPr id="41" name="Shape 32"/>
          <p:cNvSpPr/>
          <p:nvPr/>
        </p:nvSpPr>
        <p:spPr>
          <a:xfrm>
            <a:off x="2468880" y="4137660"/>
            <a:ext cx="320040" cy="914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  <a:headEnd type="none"/>
            <a:tailEnd type="none"/>
          </a:ln>
        </p:spPr>
      </p:sp>
      <p:sp>
        <p:nvSpPr>
          <p:cNvPr id="42" name="Shape 33"/>
          <p:cNvSpPr/>
          <p:nvPr/>
        </p:nvSpPr>
        <p:spPr>
          <a:xfrm>
            <a:off x="2788920" y="4137660"/>
            <a:ext cx="914" cy="1143000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  <a:headEnd type="none"/>
            <a:tailEnd type="none"/>
          </a:ln>
        </p:spPr>
      </p:sp>
      <p:sp>
        <p:nvSpPr>
          <p:cNvPr id="43" name="Shape 34"/>
          <p:cNvSpPr/>
          <p:nvPr/>
        </p:nvSpPr>
        <p:spPr>
          <a:xfrm>
            <a:off x="2788920" y="5280660"/>
            <a:ext cx="274320" cy="914"/>
          </a:xfrm>
          <a:prstGeom prst="line">
            <a:avLst/>
          </a:prstGeom>
          <a:noFill/>
          <a:ln w="19050">
            <a:solidFill>
              <a:srgbClr val="1E2761"/>
            </a:solidFill>
            <a:prstDash val="dash"/>
            <a:headEnd type="none"/>
            <a:tailEnd type="triangle"/>
          </a:ln>
        </p:spPr>
      </p:sp>
      <p:sp>
        <p:nvSpPr>
          <p:cNvPr id="44" name="Shape 35"/>
          <p:cNvSpPr/>
          <p:nvPr/>
        </p:nvSpPr>
        <p:spPr>
          <a:xfrm>
            <a:off x="5029200" y="5280660"/>
            <a:ext cx="594360" cy="38862"/>
          </a:xfrm>
          <a:prstGeom prst="line">
            <a:avLst/>
          </a:prstGeom>
          <a:noFill/>
          <a:ln w="22225">
            <a:solidFill>
              <a:srgbClr val="FF6B35"/>
            </a:solidFill>
            <a:prstDash val="solid"/>
            <a:headEnd type="none"/>
            <a:tailEnd type="triangle"/>
          </a:ln>
        </p:spPr>
      </p:sp>
      <p:sp>
        <p:nvSpPr>
          <p:cNvPr id="45" name="Shape 36"/>
          <p:cNvSpPr/>
          <p:nvPr/>
        </p:nvSpPr>
        <p:spPr>
          <a:xfrm flipV="1">
            <a:off x="6972300" y="3886200"/>
            <a:ext cx="914" cy="960120"/>
          </a:xfrm>
          <a:prstGeom prst="line">
            <a:avLst/>
          </a:prstGeom>
          <a:noFill/>
          <a:ln w="25400">
            <a:solidFill>
              <a:srgbClr val="FF6B35"/>
            </a:solidFill>
            <a:prstDash val="solid"/>
            <a:headEnd type="none"/>
            <a:tailEnd type="triangle"/>
          </a:ln>
        </p:spPr>
      </p:sp>
      <p:sp>
        <p:nvSpPr>
          <p:cNvPr id="46" name="Text 37"/>
          <p:cNvSpPr/>
          <p:nvPr/>
        </p:nvSpPr>
        <p:spPr>
          <a:xfrm>
            <a:off x="6423660" y="4279392"/>
            <a:ext cx="1097280" cy="256032"/>
          </a:xfrm>
          <a:prstGeom prst="rect">
            <a:avLst/>
          </a:prstGeom>
          <a:solidFill>
            <a:srgbClr val="FAFBF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</a:t>
            </a:r>
            <a:endParaRPr lang="en-US" sz="900" dirty="0"/>
          </a:p>
        </p:txBody>
      </p:sp>
      <p:sp>
        <p:nvSpPr>
          <p:cNvPr id="47" name="Text 38"/>
          <p:cNvSpPr/>
          <p:nvPr/>
        </p:nvSpPr>
        <p:spPr>
          <a:xfrm>
            <a:off x="3063240" y="6007608"/>
            <a:ext cx="5257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 NA ARQUITETURA</a:t>
            </a:r>
            <a:endParaRPr lang="en-US" sz="850" dirty="0"/>
          </a:p>
        </p:txBody>
      </p:sp>
      <p:sp>
        <p:nvSpPr>
          <p:cNvPr id="48" name="Text 39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Dinâmica · Antecipação Avulsa</a:t>
            </a:r>
            <a:endParaRPr lang="en-US" sz="900" dirty="0"/>
          </a:p>
        </p:txBody>
      </p:sp>
      <p:sp>
        <p:nvSpPr>
          <p:cNvPr id="49" name="Text 40"/>
          <p:cNvSpPr/>
          <p:nvPr/>
        </p:nvSpPr>
        <p:spPr>
          <a:xfrm>
            <a:off x="11185855" y="65471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ARQUITETURA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teste ABC + Controle à decisão autônoma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02920" y="1170432"/>
            <a:ext cx="365760" cy="3657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sessions/clever-practical-lovelace/mnt/outputs/icons/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252728"/>
            <a:ext cx="201168" cy="2011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1133856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ABC + Controle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" y="1737360"/>
            <a:ext cx="4526280" cy="548640"/>
          </a:xfrm>
          <a:prstGeom prst="roundRect">
            <a:avLst>
              <a:gd name="adj" fmla="val 13333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7373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 elegível de operações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278892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EDF2FC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50392" y="2880360"/>
            <a:ext cx="1389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50392" y="3191256"/>
            <a:ext cx="138988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atual (baseline)</a:t>
            </a:r>
            <a:endParaRPr lang="en-US" sz="880" dirty="0"/>
          </a:p>
        </p:txBody>
      </p:sp>
      <p:sp>
        <p:nvSpPr>
          <p:cNvPr id="12" name="Shape 9"/>
          <p:cNvSpPr/>
          <p:nvPr/>
        </p:nvSpPr>
        <p:spPr>
          <a:xfrm flipH="1">
            <a:off x="1545336" y="2286000"/>
            <a:ext cx="1495044" cy="502920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532888" y="278892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FFEEE6"/>
          </a:solidFill>
          <a:ln w="15875">
            <a:solidFill>
              <a:srgbClr val="FF6B3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606040" y="2880360"/>
            <a:ext cx="1389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A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606040" y="3191256"/>
            <a:ext cx="138988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de spread 1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3040380" y="2286000"/>
            <a:ext cx="260604" cy="502920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288536" y="2788920"/>
            <a:ext cx="1536192" cy="868680"/>
          </a:xfrm>
          <a:prstGeom prst="roundRect">
            <a:avLst>
              <a:gd name="adj" fmla="val 8421"/>
            </a:avLst>
          </a:prstGeom>
          <a:solidFill>
            <a:srgbClr val="FFEEE6"/>
          </a:solidFill>
          <a:ln w="15875">
            <a:solidFill>
              <a:srgbClr val="FF6B3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361688" y="2880360"/>
            <a:ext cx="1389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B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361688" y="3191256"/>
            <a:ext cx="138988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Variação de spread 2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3040380" y="2286000"/>
            <a:ext cx="2016252" cy="502920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77240" y="3977640"/>
            <a:ext cx="45262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pic>
        <p:nvPicPr>
          <p:cNvPr id="22" name="Image 1" descr="/sessions/clever-practical-lovelace/mnt/outputs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160520"/>
            <a:ext cx="411480" cy="41148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417320" y="4069080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 de resultados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1417320" y="436168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de conversão, receita e spread por grupo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1545336" y="3657600"/>
            <a:ext cx="1495044" cy="320040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26" name="Shape 22"/>
          <p:cNvSpPr/>
          <p:nvPr/>
        </p:nvSpPr>
        <p:spPr>
          <a:xfrm flipH="1">
            <a:off x="3040380" y="3657600"/>
            <a:ext cx="260604" cy="320040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27" name="Shape 23"/>
          <p:cNvSpPr/>
          <p:nvPr/>
        </p:nvSpPr>
        <p:spPr>
          <a:xfrm flipH="1">
            <a:off x="3040380" y="3657600"/>
            <a:ext cx="2016252" cy="320040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777240" y="5029200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FAFBFD"/>
          </a:solidFill>
          <a:ln/>
        </p:spPr>
      </p:sp>
      <p:sp>
        <p:nvSpPr>
          <p:cNvPr id="29" name="Text 25"/>
          <p:cNvSpPr/>
          <p:nvPr/>
        </p:nvSpPr>
        <p:spPr>
          <a:xfrm>
            <a:off x="960120" y="5029200"/>
            <a:ext cx="4160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de Controle garante que o resultado seja atribuível à mudança de preço, isolando o ruído natural do mercado.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806440" y="1005840"/>
            <a:ext cx="5879592" cy="5532120"/>
          </a:xfrm>
          <a:prstGeom prst="roundRect">
            <a:avLst>
              <a:gd name="adj" fmla="val 1983"/>
            </a:avLst>
          </a:prstGeom>
          <a:solidFill>
            <a:srgbClr val="EDF2FC"/>
          </a:solidFill>
          <a:ln/>
        </p:spPr>
      </p:sp>
      <p:sp>
        <p:nvSpPr>
          <p:cNvPr id="31" name="Text 27"/>
          <p:cNvSpPr/>
          <p:nvPr/>
        </p:nvSpPr>
        <p:spPr>
          <a:xfrm>
            <a:off x="6080760" y="1170432"/>
            <a:ext cx="5330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Agente de Recalibração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6126480" y="1783080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pic>
        <p:nvPicPr>
          <p:cNvPr id="33" name="Image 2" descr="/sessions/clever-practical-lovelace/mnt/outputs/icons/us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1892808"/>
            <a:ext cx="283464" cy="283464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806440" y="2304288"/>
            <a:ext cx="1143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final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178040" y="1719072"/>
            <a:ext cx="2743200" cy="658368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pic>
        <p:nvPicPr>
          <p:cNvPr id="36" name="Image 3" descr="/sessions/clever-practical-lovelace/mnt/outputs/icons/coordenad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344" y="1865376"/>
            <a:ext cx="365760" cy="36576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7772400" y="179222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</a:t>
            </a:r>
            <a:endParaRPr lang="en-US" sz="1250" dirty="0"/>
          </a:p>
        </p:txBody>
      </p:sp>
      <p:sp>
        <p:nvSpPr>
          <p:cNvPr id="38" name="Text 32"/>
          <p:cNvSpPr/>
          <p:nvPr/>
        </p:nvSpPr>
        <p:spPr>
          <a:xfrm>
            <a:off x="7772400" y="2048256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Interage com o usuário e orquestra os agentes</a:t>
            </a:r>
            <a:endParaRPr lang="en-US" sz="830" dirty="0"/>
          </a:p>
        </p:txBody>
      </p:sp>
      <p:sp>
        <p:nvSpPr>
          <p:cNvPr id="39" name="Shape 33"/>
          <p:cNvSpPr/>
          <p:nvPr/>
        </p:nvSpPr>
        <p:spPr>
          <a:xfrm>
            <a:off x="6629400" y="2034540"/>
            <a:ext cx="548640" cy="13716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40" name="Shape 34"/>
          <p:cNvSpPr/>
          <p:nvPr/>
        </p:nvSpPr>
        <p:spPr>
          <a:xfrm flipH="1">
            <a:off x="5989320" y="2377440"/>
            <a:ext cx="1508760" cy="201168"/>
          </a:xfrm>
          <a:prstGeom prst="line">
            <a:avLst/>
          </a:prstGeom>
          <a:noFill/>
          <a:ln w="15875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41" name="Shape 35"/>
          <p:cNvSpPr/>
          <p:nvPr/>
        </p:nvSpPr>
        <p:spPr>
          <a:xfrm>
            <a:off x="6126480" y="2606040"/>
            <a:ext cx="523951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6272784" y="282549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43" name="Image 4" descr="/sessions/clever-practical-lovelace/mnt/outputs/icons/dataAnalys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1298" y="2914010"/>
            <a:ext cx="225308" cy="225308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6839712" y="269748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Dados</a:t>
            </a:r>
            <a:endParaRPr lang="en-US" sz="1150" dirty="0"/>
          </a:p>
        </p:txBody>
      </p:sp>
      <p:sp>
        <p:nvSpPr>
          <p:cNvPr id="45" name="Text 38"/>
          <p:cNvSpPr/>
          <p:nvPr/>
        </p:nvSpPr>
        <p:spPr>
          <a:xfrm>
            <a:off x="6839712" y="2971800"/>
            <a:ext cx="4343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prepara os dados no data mesh.</a:t>
            </a:r>
            <a:endParaRPr lang="en-US" sz="860" dirty="0"/>
          </a:p>
        </p:txBody>
      </p:sp>
      <p:sp>
        <p:nvSpPr>
          <p:cNvPr id="46" name="Shape 39"/>
          <p:cNvSpPr/>
          <p:nvPr/>
        </p:nvSpPr>
        <p:spPr>
          <a:xfrm>
            <a:off x="9582912" y="2706624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FFEEE6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9582912" y="270662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Mesh Conector</a:t>
            </a:r>
            <a:endParaRPr lang="en-US" sz="760" dirty="0"/>
          </a:p>
        </p:txBody>
      </p:sp>
      <p:sp>
        <p:nvSpPr>
          <p:cNvPr id="48" name="Shape 41"/>
          <p:cNvSpPr/>
          <p:nvPr/>
        </p:nvSpPr>
        <p:spPr>
          <a:xfrm>
            <a:off x="5989320" y="3026664"/>
            <a:ext cx="137160" cy="914"/>
          </a:xfrm>
          <a:prstGeom prst="line">
            <a:avLst/>
          </a:prstGeom>
          <a:noFill/>
          <a:ln w="1397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49" name="Shape 42"/>
          <p:cNvSpPr/>
          <p:nvPr/>
        </p:nvSpPr>
        <p:spPr>
          <a:xfrm>
            <a:off x="5989320" y="3026664"/>
            <a:ext cx="914" cy="969264"/>
          </a:xfrm>
          <a:prstGeom prst="line">
            <a:avLst/>
          </a:prstGeom>
          <a:noFill/>
          <a:ln w="1397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50" name="Shape 43"/>
          <p:cNvSpPr/>
          <p:nvPr/>
        </p:nvSpPr>
        <p:spPr>
          <a:xfrm>
            <a:off x="6126480" y="3575304"/>
            <a:ext cx="523951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51" name="Shape 44"/>
          <p:cNvSpPr/>
          <p:nvPr/>
        </p:nvSpPr>
        <p:spPr>
          <a:xfrm>
            <a:off x="6272784" y="379476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2" name="Image 5" descr="/sessions/clever-practical-lovelace/mnt/outputs/icons/scientis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1298" y="3883274"/>
            <a:ext cx="225308" cy="225308"/>
          </a:xfrm>
          <a:prstGeom prst="rect">
            <a:avLst/>
          </a:prstGeom>
        </p:spPr>
      </p:pic>
      <p:sp>
        <p:nvSpPr>
          <p:cNvPr id="53" name="Text 45"/>
          <p:cNvSpPr/>
          <p:nvPr/>
        </p:nvSpPr>
        <p:spPr>
          <a:xfrm>
            <a:off x="6839712" y="3666744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Cientista de Dados</a:t>
            </a:r>
            <a:endParaRPr lang="en-US" sz="1150" dirty="0"/>
          </a:p>
        </p:txBody>
      </p:sp>
      <p:sp>
        <p:nvSpPr>
          <p:cNvPr id="54" name="Text 46"/>
          <p:cNvSpPr/>
          <p:nvPr/>
        </p:nvSpPr>
        <p:spPr>
          <a:xfrm>
            <a:off x="6839712" y="3941064"/>
            <a:ext cx="4343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a análise experimental dos grupos de teste (lift, retorno).</a:t>
            </a:r>
            <a:endParaRPr lang="en-US" sz="860" dirty="0"/>
          </a:p>
        </p:txBody>
      </p:sp>
      <p:sp>
        <p:nvSpPr>
          <p:cNvPr id="55" name="Shape 47"/>
          <p:cNvSpPr/>
          <p:nvPr/>
        </p:nvSpPr>
        <p:spPr>
          <a:xfrm>
            <a:off x="9582912" y="3675888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FFEEE6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56" name="Text 48"/>
          <p:cNvSpPr/>
          <p:nvPr/>
        </p:nvSpPr>
        <p:spPr>
          <a:xfrm>
            <a:off x="9582912" y="367588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Engine</a:t>
            </a:r>
            <a:endParaRPr lang="en-US" sz="760" dirty="0"/>
          </a:p>
        </p:txBody>
      </p:sp>
      <p:sp>
        <p:nvSpPr>
          <p:cNvPr id="57" name="Shape 49"/>
          <p:cNvSpPr/>
          <p:nvPr/>
        </p:nvSpPr>
        <p:spPr>
          <a:xfrm>
            <a:off x="5989320" y="3995928"/>
            <a:ext cx="137160" cy="914"/>
          </a:xfrm>
          <a:prstGeom prst="line">
            <a:avLst/>
          </a:prstGeom>
          <a:noFill/>
          <a:ln w="1397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58" name="Shape 50"/>
          <p:cNvSpPr/>
          <p:nvPr/>
        </p:nvSpPr>
        <p:spPr>
          <a:xfrm>
            <a:off x="5989320" y="3995928"/>
            <a:ext cx="914" cy="969264"/>
          </a:xfrm>
          <a:prstGeom prst="line">
            <a:avLst/>
          </a:prstGeom>
          <a:noFill/>
          <a:ln w="1397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59" name="Shape 51"/>
          <p:cNvSpPr/>
          <p:nvPr/>
        </p:nvSpPr>
        <p:spPr>
          <a:xfrm>
            <a:off x="6126480" y="4544568"/>
            <a:ext cx="523951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60" name="Shape 52"/>
          <p:cNvSpPr/>
          <p:nvPr/>
        </p:nvSpPr>
        <p:spPr>
          <a:xfrm>
            <a:off x="6272784" y="47640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1" name="Image 6" descr="/sessions/clever-practical-lovelace/mnt/outputs/icons/pric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1298" y="4852538"/>
            <a:ext cx="225308" cy="225308"/>
          </a:xfrm>
          <a:prstGeom prst="rect">
            <a:avLst/>
          </a:prstGeom>
        </p:spPr>
      </p:pic>
      <p:sp>
        <p:nvSpPr>
          <p:cNvPr id="62" name="Text 53"/>
          <p:cNvSpPr/>
          <p:nvPr/>
        </p:nvSpPr>
        <p:spPr>
          <a:xfrm>
            <a:off x="6839712" y="463600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Pricing</a:t>
            </a:r>
            <a:endParaRPr lang="en-US" sz="1150" dirty="0"/>
          </a:p>
        </p:txBody>
      </p:sp>
      <p:sp>
        <p:nvSpPr>
          <p:cNvPr id="63" name="Text 54"/>
          <p:cNvSpPr/>
          <p:nvPr/>
        </p:nvSpPr>
        <p:spPr>
          <a:xfrm>
            <a:off x="6839712" y="4910328"/>
            <a:ext cx="4343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 oportunidades e recomenda novos preços.</a:t>
            </a:r>
            <a:endParaRPr lang="en-US" sz="860" dirty="0"/>
          </a:p>
        </p:txBody>
      </p:sp>
      <p:sp>
        <p:nvSpPr>
          <p:cNvPr id="64" name="Shape 55"/>
          <p:cNvSpPr/>
          <p:nvPr/>
        </p:nvSpPr>
        <p:spPr>
          <a:xfrm>
            <a:off x="9582912" y="4645152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FFEEE6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5" name="Text 56"/>
          <p:cNvSpPr/>
          <p:nvPr/>
        </p:nvSpPr>
        <p:spPr>
          <a:xfrm>
            <a:off x="9582912" y="464515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</a:t>
            </a:r>
            <a:endParaRPr lang="en-US" sz="760" dirty="0"/>
          </a:p>
        </p:txBody>
      </p:sp>
      <p:sp>
        <p:nvSpPr>
          <p:cNvPr id="66" name="Shape 57"/>
          <p:cNvSpPr/>
          <p:nvPr/>
        </p:nvSpPr>
        <p:spPr>
          <a:xfrm>
            <a:off x="5989320" y="4965192"/>
            <a:ext cx="137160" cy="914"/>
          </a:xfrm>
          <a:prstGeom prst="line">
            <a:avLst/>
          </a:prstGeom>
          <a:noFill/>
          <a:ln w="1397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67" name="Shape 58"/>
          <p:cNvSpPr/>
          <p:nvPr/>
        </p:nvSpPr>
        <p:spPr>
          <a:xfrm>
            <a:off x="5989320" y="4965192"/>
            <a:ext cx="914" cy="969264"/>
          </a:xfrm>
          <a:prstGeom prst="line">
            <a:avLst/>
          </a:prstGeom>
          <a:noFill/>
          <a:ln w="1397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68" name="Shape 59"/>
          <p:cNvSpPr/>
          <p:nvPr/>
        </p:nvSpPr>
        <p:spPr>
          <a:xfrm>
            <a:off x="6126480" y="5513832"/>
            <a:ext cx="5239512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69" name="Shape 60"/>
          <p:cNvSpPr/>
          <p:nvPr/>
        </p:nvSpPr>
        <p:spPr>
          <a:xfrm>
            <a:off x="6272784" y="573328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0" name="Image 7" descr="/sessions/clever-practical-lovelace/mnt/outputs/icons/opsAgen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1298" y="5821802"/>
            <a:ext cx="225308" cy="225308"/>
          </a:xfrm>
          <a:prstGeom prst="rect">
            <a:avLst/>
          </a:prstGeom>
        </p:spPr>
      </p:pic>
      <p:sp>
        <p:nvSpPr>
          <p:cNvPr id="71" name="Text 61"/>
          <p:cNvSpPr/>
          <p:nvPr/>
        </p:nvSpPr>
        <p:spPr>
          <a:xfrm>
            <a:off x="6839712" y="5605272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de Operações</a:t>
            </a:r>
            <a:endParaRPr lang="en-US" sz="1150" dirty="0"/>
          </a:p>
        </p:txBody>
      </p:sp>
      <p:sp>
        <p:nvSpPr>
          <p:cNvPr id="72" name="Text 62"/>
          <p:cNvSpPr/>
          <p:nvPr/>
        </p:nvSpPr>
        <p:spPr>
          <a:xfrm>
            <a:off x="6839712" y="5879592"/>
            <a:ext cx="4343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6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 a nova política de preços no sistema.</a:t>
            </a:r>
            <a:endParaRPr lang="en-US" sz="860" dirty="0"/>
          </a:p>
        </p:txBody>
      </p:sp>
      <p:sp>
        <p:nvSpPr>
          <p:cNvPr id="73" name="Shape 63"/>
          <p:cNvSpPr/>
          <p:nvPr/>
        </p:nvSpPr>
        <p:spPr>
          <a:xfrm>
            <a:off x="9582912" y="5614416"/>
            <a:ext cx="1645920" cy="274320"/>
          </a:xfrm>
          <a:prstGeom prst="roundRect">
            <a:avLst>
              <a:gd name="adj" fmla="val 50000"/>
            </a:avLst>
          </a:prstGeom>
          <a:solidFill>
            <a:srgbClr val="FFEEE6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74" name="Text 64"/>
          <p:cNvSpPr/>
          <p:nvPr/>
        </p:nvSpPr>
        <p:spPr>
          <a:xfrm>
            <a:off x="9582912" y="5614416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Engine</a:t>
            </a:r>
            <a:endParaRPr lang="en-US" sz="760" dirty="0"/>
          </a:p>
        </p:txBody>
      </p:sp>
      <p:sp>
        <p:nvSpPr>
          <p:cNvPr id="75" name="Shape 65"/>
          <p:cNvSpPr/>
          <p:nvPr/>
        </p:nvSpPr>
        <p:spPr>
          <a:xfrm>
            <a:off x="5989320" y="5934456"/>
            <a:ext cx="137160" cy="914"/>
          </a:xfrm>
          <a:prstGeom prst="line">
            <a:avLst/>
          </a:prstGeom>
          <a:noFill/>
          <a:ln w="13970">
            <a:solidFill>
              <a:srgbClr val="1E2761"/>
            </a:solidFill>
            <a:prstDash val="solid"/>
            <a:headEnd type="none"/>
            <a:tailEnd type="triangle"/>
          </a:ln>
        </p:spPr>
      </p:sp>
      <p:sp>
        <p:nvSpPr>
          <p:cNvPr id="76" name="Text 66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Dinâmica · Antecipação Avulsa</a:t>
            </a:r>
            <a:endParaRPr lang="en-US" sz="900" dirty="0"/>
          </a:p>
        </p:txBody>
      </p:sp>
      <p:sp>
        <p:nvSpPr>
          <p:cNvPr id="77" name="Text 67"/>
          <p:cNvSpPr/>
          <p:nvPr/>
        </p:nvSpPr>
        <p:spPr>
          <a:xfrm>
            <a:off x="11185855" y="65471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EVOLUÇÃO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trilha de evolução em três fases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02920" y="9326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ilustrativos, a serem ajustados com dados reais.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02920" y="150876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508760"/>
            <a:ext cx="352044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2432304"/>
            <a:ext cx="3520440" cy="12801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636776"/>
            <a:ext cx="3081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22376" y="1874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Experimentação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22376" y="2258568"/>
            <a:ext cx="3081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(Preços ABC)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22376" y="2743200"/>
            <a:ext cx="3081528" cy="365760"/>
          </a:xfrm>
          <a:prstGeom prst="roundRect">
            <a:avLst>
              <a:gd name="adj" fmla="val 50000"/>
            </a:avLst>
          </a:prstGeom>
          <a:solidFill>
            <a:srgbClr val="EDF2FC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274320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01/09 – 21/09   ·   3 semanas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22376" y="3310128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14" name="Image 0" descr="/sessions/clever-practical-lovelace/mnt/outputs/icons/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3419856"/>
            <a:ext cx="256032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850392" y="3675888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R$ 1,2 mi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50392" y="3968496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líquida incremental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2263140" y="3310128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18" name="Image 1" descr="/sessions/clever-practical-lovelace/mnt/outputs/icons/perc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156" y="3419856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2391156" y="3675888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+2,5%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391156" y="3968496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Receita</a:t>
            </a:r>
            <a:endParaRPr lang="en-US" sz="800" dirty="0"/>
          </a:p>
        </p:txBody>
      </p:sp>
      <p:sp>
        <p:nvSpPr>
          <p:cNvPr id="21" name="Shape 17"/>
          <p:cNvSpPr/>
          <p:nvPr/>
        </p:nvSpPr>
        <p:spPr>
          <a:xfrm>
            <a:off x="722376" y="4251960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22" name="Image 2" descr="/sessions/clever-practical-lovelace/mnt/outputs/icons/spre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4361688"/>
            <a:ext cx="256032" cy="256032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50392" y="4617720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+0,4 p.p.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50392" y="4910328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Spread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2263140" y="4251960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26" name="Image 3" descr="/sessions/clever-practical-lovelace/mnt/outputs/icons/volu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1156" y="4361688"/>
            <a:ext cx="256032" cy="25603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2391156" y="4617720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+1,8%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2391156" y="4910328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Volume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306824" y="150876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4306824" y="1508760"/>
            <a:ext cx="352044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31" name="Shape 25"/>
          <p:cNvSpPr/>
          <p:nvPr/>
        </p:nvSpPr>
        <p:spPr>
          <a:xfrm>
            <a:off x="4306824" y="2432304"/>
            <a:ext cx="3520440" cy="12801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2" name="Text 26"/>
          <p:cNvSpPr/>
          <p:nvPr/>
        </p:nvSpPr>
        <p:spPr>
          <a:xfrm>
            <a:off x="4526280" y="1636776"/>
            <a:ext cx="3081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4526280" y="1874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endParaRPr lang="en-US" sz="1900" dirty="0"/>
          </a:p>
        </p:txBody>
      </p:sp>
      <p:sp>
        <p:nvSpPr>
          <p:cNvPr id="34" name="Text 28"/>
          <p:cNvSpPr/>
          <p:nvPr/>
        </p:nvSpPr>
        <p:spPr>
          <a:xfrm>
            <a:off x="4526280" y="2258568"/>
            <a:ext cx="3081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(Teste de diferentes abordagens)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4526280" y="2743200"/>
            <a:ext cx="3081528" cy="365760"/>
          </a:xfrm>
          <a:prstGeom prst="roundRect">
            <a:avLst>
              <a:gd name="adj" fmla="val 50000"/>
            </a:avLst>
          </a:prstGeom>
          <a:solidFill>
            <a:srgbClr val="EDF2FC"/>
          </a:solidFill>
          <a:ln/>
        </p:spPr>
      </p:sp>
      <p:sp>
        <p:nvSpPr>
          <p:cNvPr id="36" name="Text 30"/>
          <p:cNvSpPr/>
          <p:nvPr/>
        </p:nvSpPr>
        <p:spPr>
          <a:xfrm>
            <a:off x="4526280" y="274320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 – 19/10   ·   4 semanas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4526280" y="3310128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38" name="Image 4" descr="/sessions/clever-practical-lovelace/mnt/outputs/icons/mone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4296" y="3419856"/>
            <a:ext cx="256032" cy="256032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4654296" y="3675888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R$ 3,8 mi</a:t>
            </a:r>
            <a:endParaRPr lang="en-US" sz="1500" dirty="0"/>
          </a:p>
        </p:txBody>
      </p:sp>
      <p:sp>
        <p:nvSpPr>
          <p:cNvPr id="40" name="Text 33"/>
          <p:cNvSpPr/>
          <p:nvPr/>
        </p:nvSpPr>
        <p:spPr>
          <a:xfrm>
            <a:off x="4654296" y="3968496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líquida incremental</a:t>
            </a:r>
            <a:endParaRPr lang="en-US" sz="800" dirty="0"/>
          </a:p>
        </p:txBody>
      </p:sp>
      <p:sp>
        <p:nvSpPr>
          <p:cNvPr id="41" name="Shape 34"/>
          <p:cNvSpPr/>
          <p:nvPr/>
        </p:nvSpPr>
        <p:spPr>
          <a:xfrm>
            <a:off x="6067044" y="3310128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42" name="Image 5" descr="/sessions/clever-practical-lovelace/mnt/outputs/icons/perce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5060" y="3419856"/>
            <a:ext cx="256032" cy="256032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6195060" y="3675888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+5,1%</a:t>
            </a:r>
            <a:endParaRPr lang="en-US" sz="1500" dirty="0"/>
          </a:p>
        </p:txBody>
      </p:sp>
      <p:sp>
        <p:nvSpPr>
          <p:cNvPr id="44" name="Text 36"/>
          <p:cNvSpPr/>
          <p:nvPr/>
        </p:nvSpPr>
        <p:spPr>
          <a:xfrm>
            <a:off x="6195060" y="3968496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Receita</a:t>
            </a:r>
            <a:endParaRPr lang="en-US" sz="800" dirty="0"/>
          </a:p>
        </p:txBody>
      </p:sp>
      <p:sp>
        <p:nvSpPr>
          <p:cNvPr id="45" name="Shape 37"/>
          <p:cNvSpPr/>
          <p:nvPr/>
        </p:nvSpPr>
        <p:spPr>
          <a:xfrm>
            <a:off x="4526280" y="4251960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46" name="Image 6" descr="/sessions/clever-practical-lovelace/mnt/outputs/icons/sprea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4296" y="4361688"/>
            <a:ext cx="256032" cy="256032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4654296" y="4617720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+0,7 p.p.</a:t>
            </a:r>
            <a:endParaRPr lang="en-US" sz="1500" dirty="0"/>
          </a:p>
        </p:txBody>
      </p:sp>
      <p:sp>
        <p:nvSpPr>
          <p:cNvPr id="48" name="Text 39"/>
          <p:cNvSpPr/>
          <p:nvPr/>
        </p:nvSpPr>
        <p:spPr>
          <a:xfrm>
            <a:off x="4654296" y="4910328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Spread</a:t>
            </a:r>
            <a:endParaRPr lang="en-US" sz="800" dirty="0"/>
          </a:p>
        </p:txBody>
      </p:sp>
      <p:sp>
        <p:nvSpPr>
          <p:cNvPr id="49" name="Shape 40"/>
          <p:cNvSpPr/>
          <p:nvPr/>
        </p:nvSpPr>
        <p:spPr>
          <a:xfrm>
            <a:off x="6067044" y="4251960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50" name="Image 7" descr="/sessions/clever-practical-lovelace/mnt/outputs/icons/volum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5060" y="4361688"/>
            <a:ext cx="256032" cy="256032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6195060" y="4617720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+3,2%</a:t>
            </a:r>
            <a:endParaRPr lang="en-US" sz="1500" dirty="0"/>
          </a:p>
        </p:txBody>
      </p:sp>
      <p:sp>
        <p:nvSpPr>
          <p:cNvPr id="52" name="Text 42"/>
          <p:cNvSpPr/>
          <p:nvPr/>
        </p:nvSpPr>
        <p:spPr>
          <a:xfrm>
            <a:off x="6195060" y="4910328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Volume</a:t>
            </a:r>
            <a:endParaRPr lang="en-US" sz="800" dirty="0"/>
          </a:p>
        </p:txBody>
      </p:sp>
      <p:sp>
        <p:nvSpPr>
          <p:cNvPr id="53" name="Shape 43"/>
          <p:cNvSpPr/>
          <p:nvPr/>
        </p:nvSpPr>
        <p:spPr>
          <a:xfrm>
            <a:off x="8110728" y="1508760"/>
            <a:ext cx="3520440" cy="39776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8DEEA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5000"/>
              </a:srgbClr>
            </a:outerShdw>
          </a:effectLst>
        </p:spPr>
      </p:sp>
      <p:sp>
        <p:nvSpPr>
          <p:cNvPr id="54" name="Shape 44"/>
          <p:cNvSpPr/>
          <p:nvPr/>
        </p:nvSpPr>
        <p:spPr>
          <a:xfrm>
            <a:off x="8110728" y="1508760"/>
            <a:ext cx="3520440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/>
        </p:spPr>
      </p:sp>
      <p:sp>
        <p:nvSpPr>
          <p:cNvPr id="55" name="Shape 45"/>
          <p:cNvSpPr/>
          <p:nvPr/>
        </p:nvSpPr>
        <p:spPr>
          <a:xfrm>
            <a:off x="8110728" y="2432304"/>
            <a:ext cx="3520440" cy="12801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6" name="Text 46"/>
          <p:cNvSpPr/>
          <p:nvPr/>
        </p:nvSpPr>
        <p:spPr>
          <a:xfrm>
            <a:off x="8330184" y="1636776"/>
            <a:ext cx="3081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050" dirty="0"/>
          </a:p>
        </p:txBody>
      </p:sp>
      <p:sp>
        <p:nvSpPr>
          <p:cNvPr id="57" name="Text 47"/>
          <p:cNvSpPr/>
          <p:nvPr/>
        </p:nvSpPr>
        <p:spPr>
          <a:xfrm>
            <a:off x="8330184" y="187452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Produtização</a:t>
            </a:r>
            <a:endParaRPr lang="en-US" sz="1900" dirty="0"/>
          </a:p>
        </p:txBody>
      </p:sp>
      <p:sp>
        <p:nvSpPr>
          <p:cNvPr id="58" name="Text 48"/>
          <p:cNvSpPr/>
          <p:nvPr/>
        </p:nvSpPr>
        <p:spPr>
          <a:xfrm>
            <a:off x="8330184" y="2258568"/>
            <a:ext cx="3081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(POC com a melhor abordagem)</a:t>
            </a:r>
            <a:endParaRPr lang="en-US" sz="950" dirty="0"/>
          </a:p>
        </p:txBody>
      </p:sp>
      <p:sp>
        <p:nvSpPr>
          <p:cNvPr id="59" name="Shape 49"/>
          <p:cNvSpPr/>
          <p:nvPr/>
        </p:nvSpPr>
        <p:spPr>
          <a:xfrm>
            <a:off x="8330184" y="2743200"/>
            <a:ext cx="3081528" cy="365760"/>
          </a:xfrm>
          <a:prstGeom prst="roundRect">
            <a:avLst>
              <a:gd name="adj" fmla="val 50000"/>
            </a:avLst>
          </a:prstGeom>
          <a:solidFill>
            <a:srgbClr val="EDF2FC"/>
          </a:solidFill>
          <a:ln/>
        </p:spPr>
      </p:sp>
      <p:sp>
        <p:nvSpPr>
          <p:cNvPr id="60" name="Text 50"/>
          <p:cNvSpPr/>
          <p:nvPr/>
        </p:nvSpPr>
        <p:spPr>
          <a:xfrm>
            <a:off x="8330184" y="2743200"/>
            <a:ext cx="3081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20/10 – 30/11   ·   6 semanas</a:t>
            </a:r>
            <a:endParaRPr lang="en-US" sz="1000" dirty="0"/>
          </a:p>
        </p:txBody>
      </p:sp>
      <p:sp>
        <p:nvSpPr>
          <p:cNvPr id="61" name="Shape 51"/>
          <p:cNvSpPr/>
          <p:nvPr/>
        </p:nvSpPr>
        <p:spPr>
          <a:xfrm>
            <a:off x="8330184" y="3310128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62" name="Image 8" descr="/sessions/clever-practical-lovelace/mnt/outputs/icons/mone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58200" y="3419856"/>
            <a:ext cx="256032" cy="256032"/>
          </a:xfrm>
          <a:prstGeom prst="rect">
            <a:avLst/>
          </a:prstGeom>
        </p:spPr>
      </p:pic>
      <p:sp>
        <p:nvSpPr>
          <p:cNvPr id="63" name="Text 52"/>
          <p:cNvSpPr/>
          <p:nvPr/>
        </p:nvSpPr>
        <p:spPr>
          <a:xfrm>
            <a:off x="8458200" y="3675888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R$ 9,6 mi</a:t>
            </a:r>
            <a:endParaRPr lang="en-US" sz="1500" dirty="0"/>
          </a:p>
        </p:txBody>
      </p:sp>
      <p:sp>
        <p:nvSpPr>
          <p:cNvPr id="64" name="Text 53"/>
          <p:cNvSpPr/>
          <p:nvPr/>
        </p:nvSpPr>
        <p:spPr>
          <a:xfrm>
            <a:off x="8458200" y="3968496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Receita líquida incremental</a:t>
            </a:r>
            <a:endParaRPr lang="en-US" sz="800" dirty="0"/>
          </a:p>
        </p:txBody>
      </p:sp>
      <p:sp>
        <p:nvSpPr>
          <p:cNvPr id="65" name="Shape 54"/>
          <p:cNvSpPr/>
          <p:nvPr/>
        </p:nvSpPr>
        <p:spPr>
          <a:xfrm>
            <a:off x="9870948" y="3310128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66" name="Image 9" descr="/sessions/clever-practical-lovelace/mnt/outputs/icons/percen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98964" y="3419856"/>
            <a:ext cx="256032" cy="256032"/>
          </a:xfrm>
          <a:prstGeom prst="rect">
            <a:avLst/>
          </a:prstGeom>
        </p:spPr>
      </p:pic>
      <p:sp>
        <p:nvSpPr>
          <p:cNvPr id="67" name="Text 55"/>
          <p:cNvSpPr/>
          <p:nvPr/>
        </p:nvSpPr>
        <p:spPr>
          <a:xfrm>
            <a:off x="9998964" y="3675888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+8,7%</a:t>
            </a:r>
            <a:endParaRPr lang="en-US" sz="1500" dirty="0"/>
          </a:p>
        </p:txBody>
      </p:sp>
      <p:sp>
        <p:nvSpPr>
          <p:cNvPr id="68" name="Text 56"/>
          <p:cNvSpPr/>
          <p:nvPr/>
        </p:nvSpPr>
        <p:spPr>
          <a:xfrm>
            <a:off x="9998964" y="3968496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Receita</a:t>
            </a:r>
            <a:endParaRPr lang="en-US" sz="800" dirty="0"/>
          </a:p>
        </p:txBody>
      </p:sp>
      <p:sp>
        <p:nvSpPr>
          <p:cNvPr id="69" name="Shape 57"/>
          <p:cNvSpPr/>
          <p:nvPr/>
        </p:nvSpPr>
        <p:spPr>
          <a:xfrm>
            <a:off x="8330184" y="4251960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70" name="Image 10" descr="/sessions/clever-practical-lovelace/mnt/outputs/icons/sprea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8200" y="4361688"/>
            <a:ext cx="256032" cy="256032"/>
          </a:xfrm>
          <a:prstGeom prst="rect">
            <a:avLst/>
          </a:prstGeom>
        </p:spPr>
      </p:pic>
      <p:sp>
        <p:nvSpPr>
          <p:cNvPr id="71" name="Text 58"/>
          <p:cNvSpPr/>
          <p:nvPr/>
        </p:nvSpPr>
        <p:spPr>
          <a:xfrm>
            <a:off x="8458200" y="4617720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+1,1 p.p.</a:t>
            </a:r>
            <a:endParaRPr lang="en-US" sz="1500" dirty="0"/>
          </a:p>
        </p:txBody>
      </p:sp>
      <p:sp>
        <p:nvSpPr>
          <p:cNvPr id="72" name="Text 59"/>
          <p:cNvSpPr/>
          <p:nvPr/>
        </p:nvSpPr>
        <p:spPr>
          <a:xfrm>
            <a:off x="8458200" y="4910328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Spread</a:t>
            </a:r>
            <a:endParaRPr lang="en-US" sz="800" dirty="0"/>
          </a:p>
        </p:txBody>
      </p:sp>
      <p:sp>
        <p:nvSpPr>
          <p:cNvPr id="73" name="Shape 60"/>
          <p:cNvSpPr/>
          <p:nvPr/>
        </p:nvSpPr>
        <p:spPr>
          <a:xfrm>
            <a:off x="9870948" y="4251960"/>
            <a:ext cx="1449324" cy="832104"/>
          </a:xfrm>
          <a:prstGeom prst="roundRect">
            <a:avLst>
              <a:gd name="adj" fmla="val 7692"/>
            </a:avLst>
          </a:prstGeom>
          <a:solidFill>
            <a:srgbClr val="FAFBFD"/>
          </a:solidFill>
          <a:ln/>
        </p:spPr>
      </p:sp>
      <p:pic>
        <p:nvPicPr>
          <p:cNvPr id="74" name="Image 11" descr="/sessions/clever-practical-lovelace/mnt/outputs/icons/volum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98964" y="4361688"/>
            <a:ext cx="256032" cy="256032"/>
          </a:xfrm>
          <a:prstGeom prst="rect">
            <a:avLst/>
          </a:prstGeom>
        </p:spPr>
      </p:pic>
      <p:sp>
        <p:nvSpPr>
          <p:cNvPr id="75" name="Text 61"/>
          <p:cNvSpPr/>
          <p:nvPr/>
        </p:nvSpPr>
        <p:spPr>
          <a:xfrm>
            <a:off x="9998964" y="4617720"/>
            <a:ext cx="12298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+5,4%</a:t>
            </a:r>
            <a:endParaRPr lang="en-US" sz="1500" dirty="0"/>
          </a:p>
        </p:txBody>
      </p:sp>
      <p:sp>
        <p:nvSpPr>
          <p:cNvPr id="76" name="Text 62"/>
          <p:cNvSpPr/>
          <p:nvPr/>
        </p:nvSpPr>
        <p:spPr>
          <a:xfrm>
            <a:off x="9998964" y="4910328"/>
            <a:ext cx="1266444" cy="1737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Volume</a:t>
            </a:r>
            <a:endParaRPr lang="en-US" sz="800" dirty="0"/>
          </a:p>
        </p:txBody>
      </p:sp>
      <p:sp>
        <p:nvSpPr>
          <p:cNvPr id="77" name="Text 63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Dinâmica · Antecipação Avulsa</a:t>
            </a:r>
            <a:endParaRPr lang="en-US" sz="900" dirty="0"/>
          </a:p>
        </p:txBody>
      </p:sp>
      <p:sp>
        <p:nvSpPr>
          <p:cNvPr id="78" name="Text 64"/>
          <p:cNvSpPr/>
          <p:nvPr/>
        </p:nvSpPr>
        <p:spPr>
          <a:xfrm>
            <a:off x="11185855" y="65471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1280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384048"/>
            <a:ext cx="111831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POC aos próximos passos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869680" y="457200"/>
            <a:ext cx="146304" cy="14630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9070848" y="40233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921240" y="457200"/>
            <a:ext cx="146304" cy="146304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7" name="Text 5"/>
          <p:cNvSpPr/>
          <p:nvPr/>
        </p:nvSpPr>
        <p:spPr>
          <a:xfrm>
            <a:off x="10122408" y="402336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234440" y="3703320"/>
            <a:ext cx="10104120" cy="914"/>
          </a:xfrm>
          <a:prstGeom prst="line">
            <a:avLst/>
          </a:prstGeom>
          <a:noFill/>
          <a:ln w="31750">
            <a:solidFill>
              <a:srgbClr val="D8DEEA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1320272" y="3703320"/>
            <a:ext cx="18288" cy="914"/>
          </a:xfrm>
          <a:prstGeom prst="line">
            <a:avLst/>
          </a:prstGeom>
          <a:noFill/>
          <a:ln w="31750">
            <a:solidFill>
              <a:srgbClr val="D8DEE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106424" y="357530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233172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5400000">
              <a:srgbClr val="1E2761">
                <a:alpha val="25000"/>
              </a:srgbClr>
            </a:outerShdw>
          </a:effectLst>
        </p:spPr>
      </p:sp>
      <p:pic>
        <p:nvPicPr>
          <p:cNvPr id="12" name="Image 0" descr="/sessions/clever-practical-lovelace/mnt/outputs/icon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441448"/>
            <a:ext cx="329184" cy="32918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502920" y="280720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2920" y="3044952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atual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 flipV="1">
            <a:off x="1234440" y="3337560"/>
            <a:ext cx="914" cy="36576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16" name="Shape 13"/>
          <p:cNvSpPr/>
          <p:nvPr/>
        </p:nvSpPr>
        <p:spPr>
          <a:xfrm>
            <a:off x="2642616" y="3602736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2743200" y="3703320"/>
            <a:ext cx="914" cy="32004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18" name="Text 15"/>
          <p:cNvSpPr/>
          <p:nvPr/>
        </p:nvSpPr>
        <p:spPr>
          <a:xfrm>
            <a:off x="2286000" y="3291840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2125980" y="4023360"/>
            <a:ext cx="1234440" cy="12618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2587752" y="412394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1" descr="/sessions/clever-practical-lovelace/mnt/outputs/icons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9931" y="4186123"/>
            <a:ext cx="186538" cy="18653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2180844" y="4480560"/>
            <a:ext cx="112471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rating</a:t>
            </a:r>
            <a:endParaRPr lang="en-US" sz="7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toda a base</a:t>
            </a:r>
            <a:endParaRPr lang="en-US" sz="780" dirty="0"/>
          </a:p>
        </p:txBody>
      </p:sp>
      <p:sp>
        <p:nvSpPr>
          <p:cNvPr id="23" name="Shape 19"/>
          <p:cNvSpPr/>
          <p:nvPr/>
        </p:nvSpPr>
        <p:spPr>
          <a:xfrm>
            <a:off x="4014216" y="3602736"/>
            <a:ext cx="201168" cy="20116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24" name="Shape 20"/>
          <p:cNvSpPr/>
          <p:nvPr/>
        </p:nvSpPr>
        <p:spPr>
          <a:xfrm flipV="1">
            <a:off x="4114800" y="3383280"/>
            <a:ext cx="914" cy="320040"/>
          </a:xfrm>
          <a:prstGeom prst="line">
            <a:avLst/>
          </a:prstGeom>
          <a:noFill/>
          <a:ln w="19050">
            <a:solidFill>
              <a:srgbClr val="FF6B35"/>
            </a:solidFill>
            <a:prstDash val="solid"/>
            <a:headEnd type="none"/>
            <a:tailEnd type="none"/>
          </a:ln>
        </p:spPr>
      </p:sp>
      <p:sp>
        <p:nvSpPr>
          <p:cNvPr id="25" name="Text 21"/>
          <p:cNvSpPr/>
          <p:nvPr/>
        </p:nvSpPr>
        <p:spPr>
          <a:xfrm>
            <a:off x="3657600" y="389534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3497580" y="2121408"/>
            <a:ext cx="1234440" cy="12618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FF6B35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3959352" y="2221992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28" name="Image 2" descr="/sessions/clever-practical-lovelace/mnt/outputs/icons/clou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1531" y="2284171"/>
            <a:ext cx="186538" cy="18653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3552444" y="2578608"/>
            <a:ext cx="112471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na AWS</a:t>
            </a:r>
            <a:endParaRPr lang="en-US" sz="780" dirty="0"/>
          </a:p>
        </p:txBody>
      </p:sp>
      <p:sp>
        <p:nvSpPr>
          <p:cNvPr id="30" name="Shape 25"/>
          <p:cNvSpPr/>
          <p:nvPr/>
        </p:nvSpPr>
        <p:spPr>
          <a:xfrm>
            <a:off x="5385816" y="3602736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Shape 26"/>
          <p:cNvSpPr/>
          <p:nvPr/>
        </p:nvSpPr>
        <p:spPr>
          <a:xfrm>
            <a:off x="5486400" y="3703320"/>
            <a:ext cx="914" cy="32004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32" name="Text 27"/>
          <p:cNvSpPr/>
          <p:nvPr/>
        </p:nvSpPr>
        <p:spPr>
          <a:xfrm>
            <a:off x="5029200" y="3291840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4869180" y="4023360"/>
            <a:ext cx="1234440" cy="12618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5330952" y="412394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5" name="Image 3" descr="/sessions/clever-practical-lovelace/mnt/outputs/icons/variabl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131" y="4186123"/>
            <a:ext cx="186538" cy="18653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4924044" y="4480560"/>
            <a:ext cx="112471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Otimizar distribuição</a:t>
            </a:r>
            <a:endParaRPr lang="en-US" sz="7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dados</a:t>
            </a:r>
            <a:endParaRPr lang="en-US" sz="780" dirty="0"/>
          </a:p>
        </p:txBody>
      </p:sp>
      <p:sp>
        <p:nvSpPr>
          <p:cNvPr id="37" name="Shape 31"/>
          <p:cNvSpPr/>
          <p:nvPr/>
        </p:nvSpPr>
        <p:spPr>
          <a:xfrm>
            <a:off x="6757416" y="3602736"/>
            <a:ext cx="201168" cy="20116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38" name="Shape 32"/>
          <p:cNvSpPr/>
          <p:nvPr/>
        </p:nvSpPr>
        <p:spPr>
          <a:xfrm flipV="1">
            <a:off x="6858000" y="3383280"/>
            <a:ext cx="914" cy="320040"/>
          </a:xfrm>
          <a:prstGeom prst="line">
            <a:avLst/>
          </a:prstGeom>
          <a:noFill/>
          <a:ln w="19050">
            <a:solidFill>
              <a:srgbClr val="FF6B35"/>
            </a:solidFill>
            <a:prstDash val="solid"/>
            <a:headEnd type="none"/>
            <a:tailEnd type="none"/>
          </a:ln>
        </p:spPr>
      </p:sp>
      <p:sp>
        <p:nvSpPr>
          <p:cNvPr id="39" name="Text 33"/>
          <p:cNvSpPr/>
          <p:nvPr/>
        </p:nvSpPr>
        <p:spPr>
          <a:xfrm>
            <a:off x="6400800" y="389534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240780" y="2121408"/>
            <a:ext cx="1234440" cy="12618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FF6B35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41" name="Shape 35"/>
          <p:cNvSpPr/>
          <p:nvPr/>
        </p:nvSpPr>
        <p:spPr>
          <a:xfrm>
            <a:off x="6702552" y="2221992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42" name="Image 4" descr="/sessions/clever-practical-lovelace/mnt/outputs/icons/langgrap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4731" y="2284171"/>
            <a:ext cx="186538" cy="186538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6295644" y="2578608"/>
            <a:ext cx="112471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com IARA</a:t>
            </a:r>
            <a:endParaRPr lang="en-US" sz="7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LangGraph</a:t>
            </a:r>
            <a:endParaRPr lang="en-US" sz="780" dirty="0"/>
          </a:p>
        </p:txBody>
      </p:sp>
      <p:sp>
        <p:nvSpPr>
          <p:cNvPr id="44" name="Shape 37"/>
          <p:cNvSpPr/>
          <p:nvPr/>
        </p:nvSpPr>
        <p:spPr>
          <a:xfrm>
            <a:off x="8129016" y="3602736"/>
            <a:ext cx="201168" cy="20116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45" name="Shape 38"/>
          <p:cNvSpPr/>
          <p:nvPr/>
        </p:nvSpPr>
        <p:spPr>
          <a:xfrm flipV="1">
            <a:off x="8229600" y="3383280"/>
            <a:ext cx="914" cy="320040"/>
          </a:xfrm>
          <a:prstGeom prst="line">
            <a:avLst/>
          </a:prstGeom>
          <a:noFill/>
          <a:ln w="19050">
            <a:solidFill>
              <a:srgbClr val="FF6B35"/>
            </a:solidFill>
            <a:prstDash val="solid"/>
            <a:headEnd type="none"/>
            <a:tailEnd type="none"/>
          </a:ln>
        </p:spPr>
      </p:sp>
      <p:sp>
        <p:nvSpPr>
          <p:cNvPr id="46" name="Text 39"/>
          <p:cNvSpPr/>
          <p:nvPr/>
        </p:nvSpPr>
        <p:spPr>
          <a:xfrm>
            <a:off x="7772400" y="389534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47" name="Shape 40"/>
          <p:cNvSpPr/>
          <p:nvPr/>
        </p:nvSpPr>
        <p:spPr>
          <a:xfrm>
            <a:off x="7612380" y="2121408"/>
            <a:ext cx="1234440" cy="12618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FF6B35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48" name="Shape 41"/>
          <p:cNvSpPr/>
          <p:nvPr/>
        </p:nvSpPr>
        <p:spPr>
          <a:xfrm>
            <a:off x="8074152" y="2221992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49" name="Image 5" descr="/sessions/clever-practical-lovelace/mnt/outputs/icons/mai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6331" y="2284171"/>
            <a:ext cx="186538" cy="186538"/>
          </a:xfrm>
          <a:prstGeom prst="rect">
            <a:avLst/>
          </a:prstGeom>
        </p:spPr>
      </p:pic>
      <p:sp>
        <p:nvSpPr>
          <p:cNvPr id="50" name="Text 42"/>
          <p:cNvSpPr/>
          <p:nvPr/>
        </p:nvSpPr>
        <p:spPr>
          <a:xfrm>
            <a:off x="7667244" y="2578608"/>
            <a:ext cx="112471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+ RITM</a:t>
            </a:r>
            <a:endParaRPr lang="en-US" sz="780" dirty="0"/>
          </a:p>
        </p:txBody>
      </p:sp>
      <p:sp>
        <p:nvSpPr>
          <p:cNvPr id="51" name="Shape 43"/>
          <p:cNvSpPr/>
          <p:nvPr/>
        </p:nvSpPr>
        <p:spPr>
          <a:xfrm>
            <a:off x="9500616" y="3602736"/>
            <a:ext cx="201168" cy="20116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2" name="Shape 44"/>
          <p:cNvSpPr/>
          <p:nvPr/>
        </p:nvSpPr>
        <p:spPr>
          <a:xfrm>
            <a:off x="9601200" y="3703320"/>
            <a:ext cx="914" cy="32004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headEnd type="none"/>
            <a:tailEnd type="none"/>
          </a:ln>
        </p:spPr>
      </p:sp>
      <p:sp>
        <p:nvSpPr>
          <p:cNvPr id="53" name="Text 45"/>
          <p:cNvSpPr/>
          <p:nvPr/>
        </p:nvSpPr>
        <p:spPr>
          <a:xfrm>
            <a:off x="9144000" y="3291840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54" name="Shape 46"/>
          <p:cNvSpPr/>
          <p:nvPr/>
        </p:nvSpPr>
        <p:spPr>
          <a:xfrm>
            <a:off x="8983980" y="4023360"/>
            <a:ext cx="1234440" cy="12618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55" name="Shape 47"/>
          <p:cNvSpPr/>
          <p:nvPr/>
        </p:nvSpPr>
        <p:spPr>
          <a:xfrm>
            <a:off x="9445752" y="4123944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6" name="Image 6" descr="/sessions/clever-practical-lovelace/mnt/outputs/icons/variable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7931" y="4186123"/>
            <a:ext cx="186538" cy="186538"/>
          </a:xfrm>
          <a:prstGeom prst="rect">
            <a:avLst/>
          </a:prstGeom>
        </p:spPr>
      </p:pic>
      <p:sp>
        <p:nvSpPr>
          <p:cNvPr id="57" name="Text 48"/>
          <p:cNvSpPr/>
          <p:nvPr/>
        </p:nvSpPr>
        <p:spPr>
          <a:xfrm>
            <a:off x="9038844" y="4480560"/>
            <a:ext cx="112471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Novas variáveis</a:t>
            </a:r>
            <a:endParaRPr lang="en-US" sz="7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(região, IPP, recência...)</a:t>
            </a:r>
            <a:endParaRPr lang="en-US" sz="780" dirty="0"/>
          </a:p>
        </p:txBody>
      </p:sp>
      <p:sp>
        <p:nvSpPr>
          <p:cNvPr id="58" name="Shape 49"/>
          <p:cNvSpPr/>
          <p:nvPr/>
        </p:nvSpPr>
        <p:spPr>
          <a:xfrm>
            <a:off x="10872216" y="3602736"/>
            <a:ext cx="201168" cy="201168"/>
          </a:xfrm>
          <a:prstGeom prst="ellipse">
            <a:avLst/>
          </a:prstGeom>
          <a:solidFill>
            <a:srgbClr val="FF6B35"/>
          </a:solidFill>
          <a:ln/>
        </p:spPr>
      </p:sp>
      <p:sp>
        <p:nvSpPr>
          <p:cNvPr id="59" name="Shape 50"/>
          <p:cNvSpPr/>
          <p:nvPr/>
        </p:nvSpPr>
        <p:spPr>
          <a:xfrm flipV="1">
            <a:off x="10972800" y="3383280"/>
            <a:ext cx="914" cy="320040"/>
          </a:xfrm>
          <a:prstGeom prst="line">
            <a:avLst/>
          </a:prstGeom>
          <a:noFill/>
          <a:ln w="19050">
            <a:solidFill>
              <a:srgbClr val="FF6B35"/>
            </a:solidFill>
            <a:prstDash val="solid"/>
            <a:headEnd type="none"/>
            <a:tailEnd type="none"/>
          </a:ln>
        </p:spPr>
      </p:sp>
      <p:sp>
        <p:nvSpPr>
          <p:cNvPr id="60" name="Text 51"/>
          <p:cNvSpPr/>
          <p:nvPr/>
        </p:nvSpPr>
        <p:spPr>
          <a:xfrm>
            <a:off x="10515600" y="389534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10355580" y="2121408"/>
            <a:ext cx="1234440" cy="1261872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FF6B35"/>
            </a:solidFill>
            <a:prstDash val="solid"/>
          </a:ln>
          <a:effectLst>
            <a:outerShdw sx="100000" sy="100000" kx="0" ky="0" algn="bl" rotWithShape="0" blurRad="63500" dist="25400" dir="5400000">
              <a:srgbClr val="1E2761">
                <a:alpha val="14000"/>
              </a:srgbClr>
            </a:outerShdw>
          </a:effectLst>
        </p:spPr>
      </p:sp>
      <p:sp>
        <p:nvSpPr>
          <p:cNvPr id="62" name="Shape 53"/>
          <p:cNvSpPr/>
          <p:nvPr/>
        </p:nvSpPr>
        <p:spPr>
          <a:xfrm>
            <a:off x="10817352" y="2221992"/>
            <a:ext cx="310896" cy="310896"/>
          </a:xfrm>
          <a:prstGeom prst="ellipse">
            <a:avLst/>
          </a:prstGeom>
          <a:solidFill>
            <a:srgbClr val="FF6B35"/>
          </a:solidFill>
          <a:ln/>
        </p:spPr>
      </p:sp>
      <p:pic>
        <p:nvPicPr>
          <p:cNvPr id="63" name="Image 7" descr="/sessions/clever-practical-lovelace/mnt/outputs/icons/onlinecha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79531" y="2284171"/>
            <a:ext cx="186538" cy="186538"/>
          </a:xfrm>
          <a:prstGeom prst="rect">
            <a:avLst/>
          </a:prstGeom>
        </p:spPr>
      </p:pic>
      <p:sp>
        <p:nvSpPr>
          <p:cNvPr id="64" name="Text 54"/>
          <p:cNvSpPr/>
          <p:nvPr/>
        </p:nvSpPr>
        <p:spPr>
          <a:xfrm>
            <a:off x="10410444" y="2578608"/>
            <a:ext cx="1124712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Disponibilizar</a:t>
            </a:r>
            <a:endParaRPr lang="en-US" sz="78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Online</a:t>
            </a:r>
            <a:endParaRPr lang="en-US" sz="780" dirty="0"/>
          </a:p>
        </p:txBody>
      </p:sp>
      <p:sp>
        <p:nvSpPr>
          <p:cNvPr id="65" name="Text 55"/>
          <p:cNvSpPr/>
          <p:nvPr/>
        </p:nvSpPr>
        <p:spPr>
          <a:xfrm>
            <a:off x="457200" y="65471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Precificação Dinâmica · Antecipação Avulsa</a:t>
            </a:r>
            <a:endParaRPr lang="en-US" sz="900" dirty="0"/>
          </a:p>
        </p:txBody>
      </p:sp>
      <p:sp>
        <p:nvSpPr>
          <p:cNvPr id="66" name="Text 56"/>
          <p:cNvSpPr/>
          <p:nvPr/>
        </p:nvSpPr>
        <p:spPr>
          <a:xfrm>
            <a:off x="11185855" y="654710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2026-07-27T03:11:47Z</dcterms:created>
  <dcterms:modified xsi:type="dcterms:W3CDTF">2026-07-27T03:11:47Z</dcterms:modified>
</cp:coreProperties>
</file>